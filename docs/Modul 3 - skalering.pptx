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87" r:id="rId6"/>
    <p:sldId id="288" r:id="rId7"/>
    <p:sldId id="293" r:id="rId8"/>
    <p:sldId id="294" r:id="rId9"/>
    <p:sldId id="295" r:id="rId10"/>
    <p:sldId id="296" r:id="rId11"/>
    <p:sldId id="297" r:id="rId12"/>
    <p:sldId id="289" r:id="rId13"/>
    <p:sldId id="291" r:id="rId14"/>
    <p:sldId id="299" r:id="rId15"/>
    <p:sldId id="298" r:id="rId16"/>
    <p:sldId id="292" r:id="rId17"/>
  </p:sldIdLst>
  <p:sldSz cx="9144000" cy="6858000" type="screen4x3"/>
  <p:notesSz cx="6794500" cy="99314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260"/>
    <a:srgbClr val="613C8D"/>
    <a:srgbClr val="73ADA0"/>
    <a:srgbClr val="58A99F"/>
    <a:srgbClr val="3EA089"/>
    <a:srgbClr val="9DBCB0"/>
    <a:srgbClr val="62B2C4"/>
    <a:srgbClr val="75B3C0"/>
    <a:srgbClr val="79B57F"/>
    <a:srgbClr val="B52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Mørkt layou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Mørkt layou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Mørkt layout 2 - Markering 5/Markering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5890" autoAdjust="0"/>
  </p:normalViewPr>
  <p:slideViewPr>
    <p:cSldViewPr>
      <p:cViewPr varScale="1">
        <p:scale>
          <a:sx n="122" d="100"/>
          <a:sy n="122" d="100"/>
        </p:scale>
        <p:origin x="190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3" d="100"/>
          <a:sy n="93" d="100"/>
        </p:scale>
        <p:origin x="3726" y="78"/>
      </p:cViewPr>
      <p:guideLst>
        <p:guide orient="horz" pos="3128"/>
        <p:guide pos="2140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003B2-37E0-4442-9C78-FB117A6F1863}" type="datetime1">
              <a:rPr lang="da-DK" smtClean="0"/>
              <a:t>10.02.2026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4B31C-007A-410F-BB42-8A2D3B6872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403678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2279-CC46-5447-9128-BEED102D31B5}" type="datetime1">
              <a:rPr lang="da-DK" smtClean="0"/>
              <a:t>10.02.2026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EB5FE-4561-469F-AFBF-A10AA9A1D6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917462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99019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614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-4832" y="5157192"/>
            <a:ext cx="9144000" cy="172819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3982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2B2C4">
              <a:alpha val="84706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70343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79B57F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86924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B52933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103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13C8D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1977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-4832" y="0"/>
            <a:ext cx="9144000" cy="6885384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14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72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1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7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  <a:p>
            <a:endParaRPr lang="da-DK" dirty="0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76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5" name="Lige forbindelse 14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6" name="Billed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47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4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13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1509234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49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0816170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167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22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1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5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6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7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210D-F596-4EFF-8595-A055D708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16AC-EC15-40C9-8A72-57D50C67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E17B-3CA0-4729-8D78-22AF35D2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4379F-A27A-4064-9FBF-A0CBF580D62B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6032814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23FA-48BF-4749-9054-B5E067B2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379EA-D86E-4878-877E-1DB321D7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6E03E-4708-4B5B-BB67-BB2C9583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2202-5AD7-4CD5-A584-EBA56D7C82C7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17367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1061532" y="548616"/>
            <a:ext cx="7110948" cy="90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1061532" y="1808784"/>
            <a:ext cx="7110948" cy="4317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Line 49"/>
          <p:cNvSpPr>
            <a:spLocks noChangeShapeType="1"/>
          </p:cNvSpPr>
          <p:nvPr userDrawn="1"/>
        </p:nvSpPr>
        <p:spPr bwMode="auto">
          <a:xfrm>
            <a:off x="467544" y="6237312"/>
            <a:ext cx="3456384" cy="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62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3" r:id="rId3"/>
    <p:sldLayoutId id="2147483674" r:id="rId4"/>
    <p:sldLayoutId id="2147483675" r:id="rId5"/>
    <p:sldLayoutId id="2147483660" r:id="rId6"/>
    <p:sldLayoutId id="2147483676" r:id="rId7"/>
    <p:sldLayoutId id="2147483677" r:id="rId8"/>
    <p:sldLayoutId id="2147483678" r:id="rId9"/>
    <p:sldLayoutId id="2147483679" r:id="rId10"/>
    <p:sldLayoutId id="2147483667" r:id="rId11"/>
    <p:sldLayoutId id="2147483665" r:id="rId12"/>
    <p:sldLayoutId id="2147483670" r:id="rId13"/>
    <p:sldLayoutId id="2147483671" r:id="rId14"/>
    <p:sldLayoutId id="2147483650" r:id="rId15"/>
    <p:sldLayoutId id="2147483652" r:id="rId16"/>
    <p:sldLayoutId id="2147483680" r:id="rId17"/>
    <p:sldLayoutId id="2147483666" r:id="rId18"/>
    <p:sldLayoutId id="2147483681" r:id="rId19"/>
    <p:sldLayoutId id="2147483682" r:id="rId20"/>
    <p:sldLayoutId id="2147483664" r:id="rId21"/>
    <p:sldLayoutId id="2147483707" r:id="rId22"/>
    <p:sldLayoutId id="2147483708" r:id="rId23"/>
    <p:sldLayoutId id="2147483709" r:id="rId24"/>
    <p:sldLayoutId id="2147483710" r:id="rId25"/>
    <p:sldLayoutId id="2147483700" r:id="rId26"/>
    <p:sldLayoutId id="2147483711" r:id="rId27"/>
    <p:sldLayoutId id="2147483712" r:id="rId28"/>
    <p:sldLayoutId id="2147483713" r:id="rId29"/>
    <p:sldLayoutId id="2147483714" r:id="rId30"/>
    <p:sldLayoutId id="2147483663" r:id="rId31"/>
    <p:sldLayoutId id="2147483687" r:id="rId32"/>
    <p:sldLayoutId id="2147483688" r:id="rId33"/>
    <p:sldLayoutId id="2147483689" r:id="rId34"/>
    <p:sldLayoutId id="2147483690" r:id="rId35"/>
    <p:sldLayoutId id="2147483662" r:id="rId36"/>
    <p:sldLayoutId id="2147483696" r:id="rId37"/>
    <p:sldLayoutId id="2147483697" r:id="rId38"/>
    <p:sldLayoutId id="2147483698" r:id="rId39"/>
    <p:sldLayoutId id="2147483699" r:id="rId40"/>
    <p:sldLayoutId id="2147483715" r:id="rId41"/>
    <p:sldLayoutId id="2147483716" r:id="rId4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Lucida Sans" panose="020B06020305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1800" b="1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bg1">
              <a:lumMod val="50000"/>
            </a:schemeClr>
          </a:solidFill>
          <a:latin typeface="Lucida Sans" panose="020B0602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460" y="1448736"/>
            <a:ext cx="8101080" cy="3240432"/>
          </a:xfrm>
        </p:spPr>
        <p:txBody>
          <a:bodyPr>
            <a:noAutofit/>
          </a:bodyPr>
          <a:lstStyle/>
          <a:p>
            <a:r>
              <a:rPr lang="da-DK" sz="4800" dirty="0"/>
              <a:t>Skalering</a:t>
            </a:r>
          </a:p>
          <a:p>
            <a:r>
              <a:rPr lang="da-DK" sz="4800" i="1" dirty="0"/>
              <a:t>”</a:t>
            </a:r>
            <a:r>
              <a:rPr lang="da-DK" sz="4800" i="1" dirty="0" err="1"/>
              <a:t>Scale</a:t>
            </a:r>
            <a:r>
              <a:rPr lang="da-DK" sz="4800" i="1" dirty="0"/>
              <a:t> out – not up!”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E5150-189F-40AE-CB19-7CC90B769B63}"/>
              </a:ext>
            </a:extLst>
          </p:cNvPr>
          <p:cNvSpPr txBox="1"/>
          <p:nvPr/>
        </p:nvSpPr>
        <p:spPr>
          <a:xfrm>
            <a:off x="4031928" y="4689168"/>
            <a:ext cx="3738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b="1" dirty="0">
                <a:solidFill>
                  <a:schemeClr val="bg1"/>
                </a:solidFill>
              </a:rPr>
              <a:t>Skaleringskuben – x, y, 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b="1" dirty="0">
                <a:solidFill>
                  <a:schemeClr val="bg1"/>
                </a:solidFill>
              </a:rPr>
              <a:t>Skalering af service/kode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b="1" dirty="0">
                <a:solidFill>
                  <a:schemeClr val="bg1"/>
                </a:solidFill>
              </a:rPr>
              <a:t>Skalering af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b="1" dirty="0">
                <a:solidFill>
                  <a:schemeClr val="bg1"/>
                </a:solidFill>
              </a:rPr>
              <a:t>Eksempler</a:t>
            </a:r>
          </a:p>
        </p:txBody>
      </p:sp>
    </p:spTree>
    <p:extLst>
      <p:ext uri="{BB962C8B-B14F-4D97-AF65-F5344CB8AC3E}">
        <p14:creationId xmlns:p14="http://schemas.microsoft.com/office/powerpoint/2010/main" val="17537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7949-6941-5A0A-6365-D0B5C9E4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Skalering af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52D9-718C-F5E8-3E2C-BBBC92F16D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BB7D4D-5020-4FAA-CCEE-6C4A64E630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5" r="8277" b="5373"/>
          <a:stretch/>
        </p:blipFill>
        <p:spPr>
          <a:xfrm>
            <a:off x="111946" y="1448736"/>
            <a:ext cx="8920108" cy="54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8FA-5C46-B2E9-F69E-4FDAD21D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De tre dimensioner –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9E46-AF47-D6EE-4B97-A215A76D0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X-</a:t>
            </a:r>
            <a:r>
              <a:rPr lang="da-DK" dirty="0" err="1"/>
              <a:t>scale</a:t>
            </a:r>
            <a:r>
              <a:rPr lang="da-DK" dirty="0"/>
              <a:t>: kloning, den samme service afvikles på flere computere. Pas på med tilstand.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 err="1"/>
              <a:t>Loadbalancer</a:t>
            </a:r>
            <a:endParaRPr lang="da-DK" dirty="0"/>
          </a:p>
          <a:p>
            <a:pPr lvl="1"/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Y-</a:t>
            </a:r>
            <a:r>
              <a:rPr lang="da-DK" dirty="0" err="1"/>
              <a:t>scale</a:t>
            </a:r>
            <a:r>
              <a:rPr lang="da-DK" dirty="0"/>
              <a:t>: Split kodebasen for en service, så den afvikles på flere computere.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Tag en del af kodebasen og flyt over i et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Z-</a:t>
            </a:r>
            <a:r>
              <a:rPr lang="da-DK" dirty="0" err="1"/>
              <a:t>scale</a:t>
            </a:r>
            <a:r>
              <a:rPr lang="da-DK" dirty="0"/>
              <a:t>: Split </a:t>
            </a:r>
            <a:r>
              <a:rPr lang="da-DK" dirty="0" err="1"/>
              <a:t>udfra</a:t>
            </a:r>
            <a:r>
              <a:rPr lang="da-DK" dirty="0"/>
              <a:t> kontekst af </a:t>
            </a:r>
            <a:r>
              <a:rPr lang="da-DK" dirty="0" err="1"/>
              <a:t>request</a:t>
            </a:r>
            <a:endParaRPr lang="da-DK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En reception </a:t>
            </a:r>
          </a:p>
        </p:txBody>
      </p:sp>
    </p:spTree>
    <p:extLst>
      <p:ext uri="{BB962C8B-B14F-4D97-AF65-F5344CB8AC3E}">
        <p14:creationId xmlns:p14="http://schemas.microsoft.com/office/powerpoint/2010/main" val="153324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F255-52E2-FEF3-2326-7CD8E326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1 – stateless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BFCE5-A856-8D33-3E65-10073E55C239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UI - webapp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6EBA0-0659-3E79-47F0-F27ED0A0D904}"/>
              </a:ext>
            </a:extLst>
          </p:cNvPr>
          <p:cNvSpPr/>
          <p:nvPr/>
        </p:nvSpPr>
        <p:spPr>
          <a:xfrm>
            <a:off x="3659485" y="3161592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4FECB-7211-F658-8726-8DF48CB07F4D}"/>
              </a:ext>
            </a:extLst>
          </p:cNvPr>
          <p:cNvSpPr/>
          <p:nvPr/>
        </p:nvSpPr>
        <p:spPr>
          <a:xfrm>
            <a:off x="3659485" y="450914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326BA3-4F80-E428-D63E-8632DC5773D2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4559605" y="2348856"/>
            <a:ext cx="12395" cy="81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618B2E-906D-94EF-6F33-1EF9BA20BE1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559605" y="3701664"/>
            <a:ext cx="0" cy="807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Sad face outline with solid fill">
            <a:extLst>
              <a:ext uri="{FF2B5EF4-FFF2-40B4-BE49-F238E27FC236}">
                <a16:creationId xmlns:a16="http://schemas.microsoft.com/office/drawing/2014/main" id="{3DED965D-5F32-0B7E-B956-EDB15B650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2168" y="3181388"/>
            <a:ext cx="465702" cy="46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3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0B75-BC2C-5115-4F1A-78C78A9E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3BCC-319D-B4C6-9813-944C2BE5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– stateless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2F614C-10DE-92F3-130E-84C91C6032D3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UI - webapp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A746D-0687-4797-9751-EF7A96194F70}"/>
              </a:ext>
            </a:extLst>
          </p:cNvPr>
          <p:cNvSpPr/>
          <p:nvPr/>
        </p:nvSpPr>
        <p:spPr>
          <a:xfrm>
            <a:off x="2411712" y="3434861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DA7E57-C25F-4098-DE21-B2441E874BC9}"/>
              </a:ext>
            </a:extLst>
          </p:cNvPr>
          <p:cNvSpPr/>
          <p:nvPr/>
        </p:nvSpPr>
        <p:spPr>
          <a:xfrm>
            <a:off x="3659485" y="450914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08119F-F8D6-B4DB-F3BA-580EAA1E00A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4559605" y="3963211"/>
            <a:ext cx="1092539" cy="54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52B3EB-11E7-6A61-74C9-F1EB3CDC76F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311832" y="3974933"/>
            <a:ext cx="1247773" cy="534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61D7B02-08F7-F219-CD73-6E1322F8AEF0}"/>
              </a:ext>
            </a:extLst>
          </p:cNvPr>
          <p:cNvSpPr/>
          <p:nvPr/>
        </p:nvSpPr>
        <p:spPr>
          <a:xfrm>
            <a:off x="4752024" y="3423139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C486B3-0B74-AAC1-0AA0-BE7DCE0224AE}"/>
              </a:ext>
            </a:extLst>
          </p:cNvPr>
          <p:cNvSpPr/>
          <p:nvPr/>
        </p:nvSpPr>
        <p:spPr>
          <a:xfrm>
            <a:off x="3563275" y="2708904"/>
            <a:ext cx="1992659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Loadbalancer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- API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2413F2-AE98-7BE7-931F-A7A93A41C42F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4559605" y="2348856"/>
            <a:ext cx="12395" cy="360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AFA7F9-7D21-5E19-9D68-73C595886A4D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 flipH="1">
            <a:off x="3311832" y="3248976"/>
            <a:ext cx="1247773" cy="185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F99C33-A76C-29FE-0EBE-C0FCC6486A7F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>
            <a:off x="4559605" y="3248976"/>
            <a:ext cx="1092539" cy="17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C53702-21DE-10FE-9597-CC0192408B18}"/>
              </a:ext>
            </a:extLst>
          </p:cNvPr>
          <p:cNvSpPr txBox="1"/>
          <p:nvPr/>
        </p:nvSpPr>
        <p:spPr>
          <a:xfrm rot="734713">
            <a:off x="6074162" y="1988808"/>
            <a:ext cx="2774959" cy="1200329"/>
          </a:xfrm>
          <a:prstGeom prst="rect">
            <a:avLst/>
          </a:prstGeom>
          <a:solidFill>
            <a:srgbClr val="F4E260">
              <a:alpha val="3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X-</a:t>
            </a:r>
            <a:r>
              <a:rPr lang="en-US" dirty="0" err="1"/>
              <a:t>skalering</a:t>
            </a:r>
            <a:r>
              <a:rPr lang="en-US" dirty="0"/>
              <a:t> – </a:t>
            </a:r>
            <a:r>
              <a:rPr lang="en-US" dirty="0" err="1"/>
              <a:t>usynlig</a:t>
            </a:r>
            <a:r>
              <a:rPr lang="en-US" dirty="0"/>
              <a:t> for </a:t>
            </a:r>
          </a:p>
          <a:p>
            <a:r>
              <a:rPr lang="en-US" dirty="0"/>
              <a:t>dem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bruger</a:t>
            </a:r>
            <a:r>
              <a:rPr lang="en-US" dirty="0"/>
              <a:t> </a:t>
            </a:r>
          </a:p>
          <a:p>
            <a:r>
              <a:rPr lang="en-US" dirty="0" err="1"/>
              <a:t>komponenten</a:t>
            </a:r>
            <a:r>
              <a:rPr lang="en-US" dirty="0"/>
              <a:t> der x-</a:t>
            </a:r>
            <a:r>
              <a:rPr lang="en-US" dirty="0" err="1"/>
              <a:t>skaleres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335C-9540-1DBB-C75F-B712D516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4D4B-FA01-C868-2806-A68F8D92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2 – stateful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2CC23-8C1E-37F9-40D0-8F62B6579FE6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UI - webapp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15C7D-198A-2475-651F-7C8251E0942F}"/>
              </a:ext>
            </a:extLst>
          </p:cNvPr>
          <p:cNvSpPr/>
          <p:nvPr/>
        </p:nvSpPr>
        <p:spPr>
          <a:xfrm>
            <a:off x="3659485" y="3161592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98A16-5E29-1985-B47A-E080841A6E47}"/>
              </a:ext>
            </a:extLst>
          </p:cNvPr>
          <p:cNvSpPr/>
          <p:nvPr/>
        </p:nvSpPr>
        <p:spPr>
          <a:xfrm>
            <a:off x="3659485" y="450914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C61175-962D-5039-D5DD-AD977F76EAB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4559605" y="2348856"/>
            <a:ext cx="12395" cy="81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A8CF7A-2CD9-5EAD-FAB5-01016BDEA5D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559605" y="3701664"/>
            <a:ext cx="0" cy="807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Sad face outline with solid fill">
            <a:extLst>
              <a:ext uri="{FF2B5EF4-FFF2-40B4-BE49-F238E27FC236}">
                <a16:creationId xmlns:a16="http://schemas.microsoft.com/office/drawing/2014/main" id="{5FB25041-6F80-85F3-B400-396952E65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2168" y="3181388"/>
            <a:ext cx="465702" cy="4657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AF2F5B-1C79-C517-AC1F-AD42263FC177}"/>
              </a:ext>
            </a:extLst>
          </p:cNvPr>
          <p:cNvSpPr/>
          <p:nvPr/>
        </p:nvSpPr>
        <p:spPr>
          <a:xfrm>
            <a:off x="6822300" y="5229240"/>
            <a:ext cx="270026" cy="27003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CAB5C-29CC-CBEF-B873-3C30A21551B6}"/>
              </a:ext>
            </a:extLst>
          </p:cNvPr>
          <p:cNvSpPr/>
          <p:nvPr/>
        </p:nvSpPr>
        <p:spPr>
          <a:xfrm>
            <a:off x="5170303" y="3414239"/>
            <a:ext cx="270026" cy="27003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4F8CC-697B-C51F-CEB5-5B9FB605D74E}"/>
              </a:ext>
            </a:extLst>
          </p:cNvPr>
          <p:cNvSpPr txBox="1"/>
          <p:nvPr/>
        </p:nvSpPr>
        <p:spPr>
          <a:xfrm>
            <a:off x="7182348" y="5179592"/>
            <a:ext cx="76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data</a:t>
            </a:r>
          </a:p>
        </p:txBody>
      </p:sp>
    </p:spTree>
    <p:extLst>
      <p:ext uri="{BB962C8B-B14F-4D97-AF65-F5344CB8AC3E}">
        <p14:creationId xmlns:p14="http://schemas.microsoft.com/office/powerpoint/2010/main" val="227525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40C6-97FB-ED1F-0BE1-040631C6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A8F5-D1F9-78D4-1ECB-C664C2CB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2 - stateful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5001E3-7C4B-A268-22A2-6F01A99A9FD5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UI - webapp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1AC41-5F84-E729-B4DF-24ED5AE7D407}"/>
              </a:ext>
            </a:extLst>
          </p:cNvPr>
          <p:cNvSpPr/>
          <p:nvPr/>
        </p:nvSpPr>
        <p:spPr>
          <a:xfrm>
            <a:off x="3659485" y="450914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1F3DDC-2E1D-DB4B-D606-15FD735A8C1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559605" y="2348856"/>
            <a:ext cx="12395" cy="89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A0FB7A-73A1-68C2-4A74-3625298EAAEA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559605" y="3616563"/>
            <a:ext cx="12394" cy="89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Sad face outline with solid fill">
            <a:extLst>
              <a:ext uri="{FF2B5EF4-FFF2-40B4-BE49-F238E27FC236}">
                <a16:creationId xmlns:a16="http://schemas.microsoft.com/office/drawing/2014/main" id="{AA353534-8FEE-BE3B-A20F-B4C1DBE72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1225" y="3196149"/>
            <a:ext cx="465702" cy="4657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4445AD-9A8E-BFA5-F37F-D7215C5F2186}"/>
              </a:ext>
            </a:extLst>
          </p:cNvPr>
          <p:cNvSpPr/>
          <p:nvPr/>
        </p:nvSpPr>
        <p:spPr>
          <a:xfrm>
            <a:off x="6822300" y="5229240"/>
            <a:ext cx="270026" cy="27003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AF242-4688-B1F1-131D-87CED9493413}"/>
              </a:ext>
            </a:extLst>
          </p:cNvPr>
          <p:cNvSpPr/>
          <p:nvPr/>
        </p:nvSpPr>
        <p:spPr>
          <a:xfrm>
            <a:off x="7138697" y="4785550"/>
            <a:ext cx="270026" cy="27003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D3B88-AB90-AE95-BA84-A5DE7B83123F}"/>
              </a:ext>
            </a:extLst>
          </p:cNvPr>
          <p:cNvSpPr txBox="1"/>
          <p:nvPr/>
        </p:nvSpPr>
        <p:spPr>
          <a:xfrm>
            <a:off x="7182348" y="5179592"/>
            <a:ext cx="768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74B3FD-E410-740A-9870-BFE460C9B14A}"/>
              </a:ext>
            </a:extLst>
          </p:cNvPr>
          <p:cNvSpPr/>
          <p:nvPr/>
        </p:nvSpPr>
        <p:spPr>
          <a:xfrm>
            <a:off x="5878519" y="4509144"/>
            <a:ext cx="1530204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API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B3E78B-B5CD-EF22-005D-9CB6D8556B79}"/>
              </a:ext>
            </a:extLst>
          </p:cNvPr>
          <p:cNvCxnSpPr>
            <a:cxnSpLocks/>
            <a:stCxn id="20" idx="3"/>
            <a:endCxn id="10" idx="0"/>
          </p:cNvCxnSpPr>
          <p:nvPr/>
        </p:nvCxnSpPr>
        <p:spPr>
          <a:xfrm>
            <a:off x="5076496" y="3427377"/>
            <a:ext cx="1567125" cy="108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5B6E0179-B89E-C5F2-F903-5269C9E191C8}"/>
              </a:ext>
            </a:extLst>
          </p:cNvPr>
          <p:cNvSpPr/>
          <p:nvPr/>
        </p:nvSpPr>
        <p:spPr>
          <a:xfrm>
            <a:off x="3846786" y="3227680"/>
            <a:ext cx="1450427" cy="388883"/>
          </a:xfrm>
          <a:custGeom>
            <a:avLst/>
            <a:gdLst>
              <a:gd name="csX0" fmla="*/ 0 w 1450427"/>
              <a:gd name="csY0" fmla="*/ 10510 h 388883"/>
              <a:gd name="csX1" fmla="*/ 1450427 w 1450427"/>
              <a:gd name="csY1" fmla="*/ 0 h 388883"/>
              <a:gd name="csX2" fmla="*/ 1450427 w 1450427"/>
              <a:gd name="csY2" fmla="*/ 199697 h 388883"/>
              <a:gd name="csX3" fmla="*/ 1229710 w 1450427"/>
              <a:gd name="csY3" fmla="*/ 199697 h 388883"/>
              <a:gd name="csX4" fmla="*/ 1229710 w 1450427"/>
              <a:gd name="csY4" fmla="*/ 388883 h 388883"/>
              <a:gd name="csX5" fmla="*/ 10510 w 1450427"/>
              <a:gd name="csY5" fmla="*/ 388883 h 388883"/>
              <a:gd name="csX6" fmla="*/ 10510 w 1450427"/>
              <a:gd name="csY6" fmla="*/ 63062 h 388883"/>
              <a:gd name="csX7" fmla="*/ 0 w 1450427"/>
              <a:gd name="csY7" fmla="*/ 10510 h 388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50427" h="388883">
                <a:moveTo>
                  <a:pt x="0" y="10510"/>
                </a:moveTo>
                <a:lnTo>
                  <a:pt x="1450427" y="0"/>
                </a:lnTo>
                <a:lnTo>
                  <a:pt x="1450427" y="199697"/>
                </a:lnTo>
                <a:lnTo>
                  <a:pt x="1229710" y="199697"/>
                </a:lnTo>
                <a:lnTo>
                  <a:pt x="1229710" y="388883"/>
                </a:lnTo>
                <a:lnTo>
                  <a:pt x="10510" y="388883"/>
                </a:lnTo>
                <a:lnTo>
                  <a:pt x="10510" y="63062"/>
                </a:lnTo>
                <a:lnTo>
                  <a:pt x="0" y="10510"/>
                </a:lnTo>
                <a:close/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24D97B-8FC0-EC02-B949-C9DA583F6761}"/>
              </a:ext>
            </a:extLst>
          </p:cNvPr>
          <p:cNvSpPr txBox="1"/>
          <p:nvPr/>
        </p:nvSpPr>
        <p:spPr>
          <a:xfrm rot="734713">
            <a:off x="6074162" y="2265807"/>
            <a:ext cx="2774959" cy="646331"/>
          </a:xfrm>
          <a:prstGeom prst="rect">
            <a:avLst/>
          </a:prstGeom>
          <a:solidFill>
            <a:srgbClr val="F4E260">
              <a:alpha val="3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Y-</a:t>
            </a:r>
            <a:r>
              <a:rPr lang="en-US" dirty="0" err="1"/>
              <a:t>skalering</a:t>
            </a:r>
            <a:r>
              <a:rPr lang="en-US" dirty="0"/>
              <a:t> – vi </a:t>
            </a:r>
            <a:r>
              <a:rPr lang="en-US" dirty="0" err="1"/>
              <a:t>opdeler</a:t>
            </a:r>
            <a:r>
              <a:rPr lang="en-US" dirty="0"/>
              <a:t> Logic </a:t>
            </a:r>
            <a:r>
              <a:rPr lang="en-US" dirty="0" err="1"/>
              <a:t>så</a:t>
            </a:r>
            <a:r>
              <a:rPr lang="en-US" dirty="0"/>
              <a:t> Data </a:t>
            </a:r>
            <a:r>
              <a:rPr lang="en-US" dirty="0" err="1"/>
              <a:t>isoleres</a:t>
            </a:r>
            <a:r>
              <a:rPr lang="en-US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74C308-8A71-3915-5B3B-C5471583610F}"/>
              </a:ext>
            </a:extLst>
          </p:cNvPr>
          <p:cNvSpPr txBox="1"/>
          <p:nvPr/>
        </p:nvSpPr>
        <p:spPr>
          <a:xfrm>
            <a:off x="445021" y="1842436"/>
            <a:ext cx="2684745" cy="369332"/>
          </a:xfrm>
          <a:prstGeom prst="rect">
            <a:avLst/>
          </a:prstGeom>
          <a:solidFill>
            <a:srgbClr val="F4E260">
              <a:alpha val="3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Step 1: Lav </a:t>
            </a:r>
            <a:r>
              <a:rPr lang="en-US" dirty="0" err="1"/>
              <a:t>en</a:t>
            </a:r>
            <a:r>
              <a:rPr lang="en-US" dirty="0"/>
              <a:t> y-</a:t>
            </a:r>
            <a:r>
              <a:rPr lang="en-US" dirty="0" err="1"/>
              <a:t>skalering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7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90EF-4A3A-AE65-3E17-78AEBB88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D5FF-DF7A-2A17-76EF-1048CCBF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2 – stateful Logic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C3797-9743-15F7-DBB7-D840DADF9556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UI - webapp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F303E-2869-FC10-35D8-D40EE8DC4B03}"/>
              </a:ext>
            </a:extLst>
          </p:cNvPr>
          <p:cNvSpPr/>
          <p:nvPr/>
        </p:nvSpPr>
        <p:spPr>
          <a:xfrm>
            <a:off x="3659485" y="450914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07E39A-866E-AF0D-DBDF-C0AFDD6463D6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559605" y="3880516"/>
            <a:ext cx="1247773" cy="628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3EDFEB-A139-7158-24DD-198D412836D9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240691" y="3926717"/>
            <a:ext cx="1318914" cy="582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5962638-A812-0DFA-7E44-483FAFC07807}"/>
              </a:ext>
            </a:extLst>
          </p:cNvPr>
          <p:cNvSpPr/>
          <p:nvPr/>
        </p:nvSpPr>
        <p:spPr>
          <a:xfrm>
            <a:off x="3563275" y="2708904"/>
            <a:ext cx="1992659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Loadbalancer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- API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D1DBA3-AE51-6ADB-AB89-5981C1D492FB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4559605" y="2348856"/>
            <a:ext cx="12395" cy="360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F86042-33C9-CFF9-7A91-BEA85CCFEBF1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311831" y="3248976"/>
            <a:ext cx="1247774" cy="288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759EC4-46DB-DE5C-26E1-AB75758DE730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559605" y="3248976"/>
            <a:ext cx="1247773" cy="270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5099E0-030A-330C-7CC7-CD3E9765614C}"/>
              </a:ext>
            </a:extLst>
          </p:cNvPr>
          <p:cNvSpPr txBox="1"/>
          <p:nvPr/>
        </p:nvSpPr>
        <p:spPr>
          <a:xfrm rot="734713">
            <a:off x="6074162" y="1988808"/>
            <a:ext cx="2774959" cy="1200329"/>
          </a:xfrm>
          <a:prstGeom prst="rect">
            <a:avLst/>
          </a:prstGeom>
          <a:solidFill>
            <a:srgbClr val="F4E260">
              <a:alpha val="3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X-</a:t>
            </a:r>
            <a:r>
              <a:rPr lang="en-US" dirty="0" err="1"/>
              <a:t>skalering</a:t>
            </a:r>
            <a:r>
              <a:rPr lang="en-US" dirty="0"/>
              <a:t> – </a:t>
            </a:r>
            <a:r>
              <a:rPr lang="en-US" dirty="0" err="1"/>
              <a:t>usynlig</a:t>
            </a:r>
            <a:r>
              <a:rPr lang="en-US" dirty="0"/>
              <a:t> for </a:t>
            </a:r>
          </a:p>
          <a:p>
            <a:r>
              <a:rPr lang="en-US" dirty="0"/>
              <a:t>dem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bruger</a:t>
            </a:r>
            <a:r>
              <a:rPr lang="en-US" dirty="0"/>
              <a:t> </a:t>
            </a:r>
          </a:p>
          <a:p>
            <a:r>
              <a:rPr lang="en-US" dirty="0" err="1"/>
              <a:t>komponenten</a:t>
            </a:r>
            <a:r>
              <a:rPr lang="en-US" dirty="0"/>
              <a:t> der x-</a:t>
            </a:r>
            <a:r>
              <a:rPr lang="en-US" dirty="0" err="1"/>
              <a:t>skaleres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214E85-F5F3-E14D-7F45-D7FA96C93AA1}"/>
              </a:ext>
            </a:extLst>
          </p:cNvPr>
          <p:cNvSpPr/>
          <p:nvPr/>
        </p:nvSpPr>
        <p:spPr>
          <a:xfrm>
            <a:off x="7138697" y="4785550"/>
            <a:ext cx="270026" cy="27003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87677B-9EFE-6461-2E7F-F2FEFE8B8199}"/>
              </a:ext>
            </a:extLst>
          </p:cNvPr>
          <p:cNvSpPr/>
          <p:nvPr/>
        </p:nvSpPr>
        <p:spPr>
          <a:xfrm>
            <a:off x="5878519" y="4509144"/>
            <a:ext cx="1530204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API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13E4B0-8043-D4FC-130B-2D5D6BE97BCA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311831" y="3926717"/>
            <a:ext cx="3331790" cy="582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9A4F2C-6250-C976-5C60-9C0E5DC06E1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807378" y="3902387"/>
            <a:ext cx="836243" cy="606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819C0CFF-2006-6693-165B-EF9550813264}"/>
              </a:ext>
            </a:extLst>
          </p:cNvPr>
          <p:cNvSpPr/>
          <p:nvPr/>
        </p:nvSpPr>
        <p:spPr>
          <a:xfrm>
            <a:off x="2586618" y="3537834"/>
            <a:ext cx="1450427" cy="388883"/>
          </a:xfrm>
          <a:custGeom>
            <a:avLst/>
            <a:gdLst>
              <a:gd name="csX0" fmla="*/ 0 w 1450427"/>
              <a:gd name="csY0" fmla="*/ 10510 h 388883"/>
              <a:gd name="csX1" fmla="*/ 1450427 w 1450427"/>
              <a:gd name="csY1" fmla="*/ 0 h 388883"/>
              <a:gd name="csX2" fmla="*/ 1450427 w 1450427"/>
              <a:gd name="csY2" fmla="*/ 199697 h 388883"/>
              <a:gd name="csX3" fmla="*/ 1229710 w 1450427"/>
              <a:gd name="csY3" fmla="*/ 199697 h 388883"/>
              <a:gd name="csX4" fmla="*/ 1229710 w 1450427"/>
              <a:gd name="csY4" fmla="*/ 388883 h 388883"/>
              <a:gd name="csX5" fmla="*/ 10510 w 1450427"/>
              <a:gd name="csY5" fmla="*/ 388883 h 388883"/>
              <a:gd name="csX6" fmla="*/ 10510 w 1450427"/>
              <a:gd name="csY6" fmla="*/ 63062 h 388883"/>
              <a:gd name="csX7" fmla="*/ 0 w 1450427"/>
              <a:gd name="csY7" fmla="*/ 10510 h 388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50427" h="388883">
                <a:moveTo>
                  <a:pt x="0" y="10510"/>
                </a:moveTo>
                <a:lnTo>
                  <a:pt x="1450427" y="0"/>
                </a:lnTo>
                <a:lnTo>
                  <a:pt x="1450427" y="199697"/>
                </a:lnTo>
                <a:lnTo>
                  <a:pt x="1229710" y="199697"/>
                </a:lnTo>
                <a:lnTo>
                  <a:pt x="1229710" y="388883"/>
                </a:lnTo>
                <a:lnTo>
                  <a:pt x="10510" y="388883"/>
                </a:lnTo>
                <a:lnTo>
                  <a:pt x="10510" y="63062"/>
                </a:lnTo>
                <a:lnTo>
                  <a:pt x="0" y="10510"/>
                </a:lnTo>
                <a:close/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5452D892-6190-125D-26E0-2C679E9A68DF}"/>
              </a:ext>
            </a:extLst>
          </p:cNvPr>
          <p:cNvSpPr/>
          <p:nvPr/>
        </p:nvSpPr>
        <p:spPr>
          <a:xfrm>
            <a:off x="5105874" y="3491633"/>
            <a:ext cx="1450427" cy="388883"/>
          </a:xfrm>
          <a:custGeom>
            <a:avLst/>
            <a:gdLst>
              <a:gd name="csX0" fmla="*/ 0 w 1450427"/>
              <a:gd name="csY0" fmla="*/ 10510 h 388883"/>
              <a:gd name="csX1" fmla="*/ 1450427 w 1450427"/>
              <a:gd name="csY1" fmla="*/ 0 h 388883"/>
              <a:gd name="csX2" fmla="*/ 1450427 w 1450427"/>
              <a:gd name="csY2" fmla="*/ 199697 h 388883"/>
              <a:gd name="csX3" fmla="*/ 1229710 w 1450427"/>
              <a:gd name="csY3" fmla="*/ 199697 h 388883"/>
              <a:gd name="csX4" fmla="*/ 1229710 w 1450427"/>
              <a:gd name="csY4" fmla="*/ 388883 h 388883"/>
              <a:gd name="csX5" fmla="*/ 10510 w 1450427"/>
              <a:gd name="csY5" fmla="*/ 388883 h 388883"/>
              <a:gd name="csX6" fmla="*/ 10510 w 1450427"/>
              <a:gd name="csY6" fmla="*/ 63062 h 388883"/>
              <a:gd name="csX7" fmla="*/ 0 w 1450427"/>
              <a:gd name="csY7" fmla="*/ 10510 h 388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50427" h="388883">
                <a:moveTo>
                  <a:pt x="0" y="10510"/>
                </a:moveTo>
                <a:lnTo>
                  <a:pt x="1450427" y="0"/>
                </a:lnTo>
                <a:lnTo>
                  <a:pt x="1450427" y="199697"/>
                </a:lnTo>
                <a:lnTo>
                  <a:pt x="1229710" y="199697"/>
                </a:lnTo>
                <a:lnTo>
                  <a:pt x="1229710" y="388883"/>
                </a:lnTo>
                <a:lnTo>
                  <a:pt x="10510" y="388883"/>
                </a:lnTo>
                <a:lnTo>
                  <a:pt x="10510" y="63062"/>
                </a:lnTo>
                <a:lnTo>
                  <a:pt x="0" y="10510"/>
                </a:lnTo>
                <a:close/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B0EA1A-BD55-F316-8C33-7A5F46531F6E}"/>
              </a:ext>
            </a:extLst>
          </p:cNvPr>
          <p:cNvSpPr txBox="1"/>
          <p:nvPr/>
        </p:nvSpPr>
        <p:spPr>
          <a:xfrm>
            <a:off x="445021" y="1842436"/>
            <a:ext cx="2684745" cy="646331"/>
          </a:xfrm>
          <a:prstGeom prst="rect">
            <a:avLst/>
          </a:prstGeom>
          <a:solidFill>
            <a:srgbClr val="F4E260">
              <a:alpha val="3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Step 2: </a:t>
            </a:r>
            <a:r>
              <a:rPr lang="en-US" dirty="0" err="1"/>
              <a:t>Derefter</a:t>
            </a:r>
            <a:r>
              <a:rPr lang="en-US" dirty="0"/>
              <a:t> - </a:t>
            </a:r>
            <a:r>
              <a:rPr lang="en-US" dirty="0" err="1"/>
              <a:t>lav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x-</a:t>
            </a:r>
            <a:r>
              <a:rPr lang="en-US" dirty="0" err="1"/>
              <a:t>skalering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75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55BC-F18B-2A52-748F-359622C6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Skalering af data / tilstand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33EEA-CBFB-5271-7D6F-A0DBBE6291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918E3-4AFE-51F1-3A7B-90BBB05E9D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71" r="5951" b="5605"/>
          <a:stretch/>
        </p:blipFill>
        <p:spPr>
          <a:xfrm>
            <a:off x="247228" y="1718772"/>
            <a:ext cx="8649544" cy="522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9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8FA-5C46-B2E9-F69E-4FDAD21D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 tre dimensioner -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9E46-AF47-D6EE-4B97-A215A76D0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X-</a:t>
            </a:r>
            <a:r>
              <a:rPr lang="da-DK" dirty="0" err="1"/>
              <a:t>scale</a:t>
            </a:r>
            <a:r>
              <a:rPr lang="da-DK" dirty="0"/>
              <a:t>: kloning, den samme database på flere computere.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Read-sensitive applikationer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Master-slave instanser…</a:t>
            </a:r>
          </a:p>
          <a:p>
            <a:pPr lvl="1"/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Y-</a:t>
            </a:r>
            <a:r>
              <a:rPr lang="da-DK" dirty="0" err="1"/>
              <a:t>scale</a:t>
            </a:r>
            <a:r>
              <a:rPr lang="da-DK" dirty="0"/>
              <a:t>: Split databasen, så den placeres på flere computere.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 err="1"/>
              <a:t>Logon</a:t>
            </a:r>
            <a:r>
              <a:rPr lang="da-DK" dirty="0"/>
              <a:t>, ordrer, varelager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På tabel eller feltniveau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Z-</a:t>
            </a:r>
            <a:r>
              <a:rPr lang="da-DK" dirty="0" err="1"/>
              <a:t>scale</a:t>
            </a:r>
            <a:r>
              <a:rPr lang="da-DK" dirty="0"/>
              <a:t>: Split på række niveau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Samme skema – forskelligt indhold.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555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2705-FEF8-9AC8-5C87-36B60801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43FE-ECB3-E954-9E6D-68BC2EBA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3 – z-scale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6030BE-DE84-A270-7923-8BA4B5FB8ECE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UI - webapp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D73D0-D1F7-2DEB-CAF8-C87A7FB7A6EF}"/>
              </a:ext>
            </a:extLst>
          </p:cNvPr>
          <p:cNvSpPr/>
          <p:nvPr/>
        </p:nvSpPr>
        <p:spPr>
          <a:xfrm>
            <a:off x="3659485" y="3161592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Logic -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2A194-E67F-4DE0-E0BB-C3D2686722EF}"/>
              </a:ext>
            </a:extLst>
          </p:cNvPr>
          <p:cNvSpPr/>
          <p:nvPr/>
        </p:nvSpPr>
        <p:spPr>
          <a:xfrm>
            <a:off x="3659485" y="450914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- database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B04A52-5D73-CD72-0F24-1B51E7E2D5B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4559605" y="2348856"/>
            <a:ext cx="12395" cy="81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FD11C6-E6EB-7246-C4F9-41F8E8B6DF6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559605" y="3701664"/>
            <a:ext cx="0" cy="807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AC9ECD-9EB4-C286-6115-3991A96A7699}"/>
              </a:ext>
            </a:extLst>
          </p:cNvPr>
          <p:cNvSpPr txBox="1"/>
          <p:nvPr/>
        </p:nvSpPr>
        <p:spPr>
          <a:xfrm rot="734713">
            <a:off x="6074162" y="2265806"/>
            <a:ext cx="2774959" cy="646331"/>
          </a:xfrm>
          <a:prstGeom prst="rect">
            <a:avLst/>
          </a:prstGeom>
          <a:solidFill>
            <a:srgbClr val="F4E260">
              <a:alpha val="3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Vi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udvide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det </a:t>
            </a:r>
            <a:r>
              <a:rPr lang="en-US" dirty="0" err="1"/>
              <a:t>svenske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tyske</a:t>
            </a:r>
            <a:r>
              <a:rPr lang="en-US" dirty="0"/>
              <a:t> marked…</a:t>
            </a:r>
          </a:p>
        </p:txBody>
      </p:sp>
    </p:spTree>
    <p:extLst>
      <p:ext uri="{BB962C8B-B14F-4D97-AF65-F5344CB8AC3E}">
        <p14:creationId xmlns:p14="http://schemas.microsoft.com/office/powerpoint/2010/main" val="2113760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1E94-FACF-E7A8-B32D-2D9CD178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621F-02EF-D75F-42D9-C6653137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Eksempel 3 – z-scale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602B5C-51CA-E80A-347C-FBF7FE1A8237}"/>
              </a:ext>
            </a:extLst>
          </p:cNvPr>
          <p:cNvGrpSpPr/>
          <p:nvPr/>
        </p:nvGrpSpPr>
        <p:grpSpPr>
          <a:xfrm>
            <a:off x="1241556" y="3071580"/>
            <a:ext cx="1710228" cy="2340312"/>
            <a:chOff x="3659485" y="2258844"/>
            <a:chExt cx="1710228" cy="23403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C2F995-5C42-CC8E-9213-98340B53A3E7}"/>
                </a:ext>
              </a:extLst>
            </p:cNvPr>
            <p:cNvSpPr/>
            <p:nvPr/>
          </p:nvSpPr>
          <p:spPr>
            <a:xfrm>
              <a:off x="3659485" y="2258844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UI - webapp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886719-C697-A313-97F0-1892F0E38B71}"/>
                </a:ext>
              </a:extLst>
            </p:cNvPr>
            <p:cNvSpPr/>
            <p:nvPr/>
          </p:nvSpPr>
          <p:spPr>
            <a:xfrm>
              <a:off x="3659485" y="3161592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Logic - API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578A81-B3FA-F709-AC7D-D22624825175}"/>
                </a:ext>
              </a:extLst>
            </p:cNvPr>
            <p:cNvSpPr/>
            <p:nvPr/>
          </p:nvSpPr>
          <p:spPr>
            <a:xfrm>
              <a:off x="3659485" y="4059084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Data DK - database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01684C8-C3B2-D1DD-8826-ADC576E7E090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4514599" y="2798916"/>
              <a:ext cx="0" cy="3626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C11A754-3582-0776-6F6A-17EB753BFCE1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4514599" y="3701664"/>
              <a:ext cx="0" cy="357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4F77C5-668C-AC2D-CEAC-22DD56728E47}"/>
              </a:ext>
            </a:extLst>
          </p:cNvPr>
          <p:cNvGrpSpPr/>
          <p:nvPr/>
        </p:nvGrpSpPr>
        <p:grpSpPr>
          <a:xfrm>
            <a:off x="3806898" y="3074208"/>
            <a:ext cx="1710228" cy="2340312"/>
            <a:chOff x="5922180" y="2798916"/>
            <a:chExt cx="1710228" cy="23403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E9BD42-C69B-D806-FAF4-147851E83D08}"/>
                </a:ext>
              </a:extLst>
            </p:cNvPr>
            <p:cNvSpPr/>
            <p:nvPr/>
          </p:nvSpPr>
          <p:spPr>
            <a:xfrm>
              <a:off x="5922180" y="2798916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UI - webapp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27020A-B6DF-D813-25E2-C0E062157745}"/>
                </a:ext>
              </a:extLst>
            </p:cNvPr>
            <p:cNvSpPr/>
            <p:nvPr/>
          </p:nvSpPr>
          <p:spPr>
            <a:xfrm>
              <a:off x="5922180" y="3701664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Logic - API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71BA35-879F-7F4C-BF28-2D2266D6C081}"/>
                </a:ext>
              </a:extLst>
            </p:cNvPr>
            <p:cNvSpPr/>
            <p:nvPr/>
          </p:nvSpPr>
          <p:spPr>
            <a:xfrm>
              <a:off x="5922180" y="4599156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Data GE - database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93D7062-AC2E-31DB-329E-71A608207D06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6777294" y="3338988"/>
              <a:ext cx="0" cy="3626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FF57D41-A0AA-B2EB-2CCE-C22FCB3E47CC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777294" y="4241736"/>
              <a:ext cx="0" cy="357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F3EC68-C519-7198-4EF3-3A100C30D60A}"/>
              </a:ext>
            </a:extLst>
          </p:cNvPr>
          <p:cNvGrpSpPr/>
          <p:nvPr/>
        </p:nvGrpSpPr>
        <p:grpSpPr>
          <a:xfrm>
            <a:off x="6372239" y="3071580"/>
            <a:ext cx="1710228" cy="2340312"/>
            <a:chOff x="5922180" y="2798916"/>
            <a:chExt cx="1710228" cy="234031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CBE579-3AB4-E307-A6B8-2CAB2ECA3215}"/>
                </a:ext>
              </a:extLst>
            </p:cNvPr>
            <p:cNvSpPr/>
            <p:nvPr/>
          </p:nvSpPr>
          <p:spPr>
            <a:xfrm>
              <a:off x="5922180" y="2798916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UI - webapp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3901492-5F55-C598-A8A0-FD21335DDE05}"/>
                </a:ext>
              </a:extLst>
            </p:cNvPr>
            <p:cNvSpPr/>
            <p:nvPr/>
          </p:nvSpPr>
          <p:spPr>
            <a:xfrm>
              <a:off x="5922180" y="3701664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Logic - API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027B1D-3DAA-187F-FC61-CEBC723E84B4}"/>
                </a:ext>
              </a:extLst>
            </p:cNvPr>
            <p:cNvSpPr/>
            <p:nvPr/>
          </p:nvSpPr>
          <p:spPr>
            <a:xfrm>
              <a:off x="5922180" y="4599156"/>
              <a:ext cx="1710228" cy="54007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Data SE - database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E7D1A68-7C82-C41F-4A76-A13D3A01F6A5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6777294" y="3338988"/>
              <a:ext cx="0" cy="3626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ABDDC05-BBBB-7DA0-B391-A4944AA2C72E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6777294" y="4241736"/>
              <a:ext cx="0" cy="3574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2B170BE-0B11-493A-C512-D2D200471BCD}"/>
              </a:ext>
            </a:extLst>
          </p:cNvPr>
          <p:cNvSpPr/>
          <p:nvPr/>
        </p:nvSpPr>
        <p:spPr>
          <a:xfrm>
            <a:off x="3671880" y="1808784"/>
            <a:ext cx="1800240" cy="5400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Reception – API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Redirect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0C1DA9-A07F-D61B-13A3-44E8DD57A266}"/>
              </a:ext>
            </a:extLst>
          </p:cNvPr>
          <p:cNvCxnSpPr>
            <a:stCxn id="24" idx="2"/>
            <a:endCxn id="4" idx="0"/>
          </p:cNvCxnSpPr>
          <p:nvPr/>
        </p:nvCxnSpPr>
        <p:spPr>
          <a:xfrm flipH="1">
            <a:off x="2096670" y="2348856"/>
            <a:ext cx="2475330" cy="722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45DE1-4958-AC53-4117-208756D5E635}"/>
              </a:ext>
            </a:extLst>
          </p:cNvPr>
          <p:cNvCxnSpPr>
            <a:stCxn id="24" idx="2"/>
            <a:endCxn id="8" idx="0"/>
          </p:cNvCxnSpPr>
          <p:nvPr/>
        </p:nvCxnSpPr>
        <p:spPr>
          <a:xfrm>
            <a:off x="4572000" y="2348856"/>
            <a:ext cx="90012" cy="725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F59129-DF60-3DE7-B813-6A55971DE524}"/>
              </a:ext>
            </a:extLst>
          </p:cNvPr>
          <p:cNvCxnSpPr>
            <a:stCxn id="24" idx="2"/>
            <a:endCxn id="19" idx="0"/>
          </p:cNvCxnSpPr>
          <p:nvPr/>
        </p:nvCxnSpPr>
        <p:spPr>
          <a:xfrm>
            <a:off x="4572000" y="2348856"/>
            <a:ext cx="2655353" cy="722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45DE53-0632-D60B-ADA3-56BA2CABB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958" y="2773948"/>
            <a:ext cx="289700" cy="21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0F761F2-C3D8-7A2D-2841-325A98D8D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440" y="2779478"/>
            <a:ext cx="379711" cy="23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6931412-E431-AA69-A5AF-2788A39FA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923" y="2741440"/>
            <a:ext cx="373598" cy="23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382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8873-CFB5-1D37-87D4-21E107E1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Resumé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90F4F-5DEE-34FD-6C3E-79C07BA0A0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X er kloning – uden undtagelser</a:t>
            </a:r>
          </a:p>
          <a:p>
            <a:endParaRPr lang="da-DK" dirty="0"/>
          </a:p>
          <a:p>
            <a:r>
              <a:rPr lang="da-DK" dirty="0"/>
              <a:t>Y er deling af kodebasen på flere services eller data på flere databaser</a:t>
            </a:r>
          </a:p>
          <a:p>
            <a:endParaRPr lang="da-DK" dirty="0"/>
          </a:p>
          <a:p>
            <a:r>
              <a:rPr lang="da-DK" dirty="0"/>
              <a:t>Z er deling på </a:t>
            </a:r>
            <a:r>
              <a:rPr lang="da-DK" dirty="0" err="1"/>
              <a:t>request</a:t>
            </a:r>
            <a:r>
              <a:rPr lang="da-DK" dirty="0"/>
              <a:t> tidspunkt eller data af samme type.</a:t>
            </a:r>
          </a:p>
        </p:txBody>
      </p:sp>
    </p:spTree>
    <p:extLst>
      <p:ext uri="{BB962C8B-B14F-4D97-AF65-F5344CB8AC3E}">
        <p14:creationId xmlns:p14="http://schemas.microsoft.com/office/powerpoint/2010/main" val="1581362449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Brugerdefineret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2060"/>
      </a:hlink>
      <a:folHlink>
        <a:srgbClr val="00206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133A24E69C6E41AAC757A5EE7EA4CE" ma:contentTypeVersion="0" ma:contentTypeDescription="Opret et nyt dokument." ma:contentTypeScope="" ma:versionID="770393eef86d7b4bef4bb0f2e561853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504b555cbc0eb2a32092f08c35baa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51F44B-3034-4740-95C2-985891052F7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C4D403-FD8F-406A-9EDF-320652EB29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ED8E34-367B-40C1-A70A-5C84642800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4016</TotalTime>
  <Words>372</Words>
  <Application>Microsoft Macintosh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Lucida Sans</vt:lpstr>
      <vt:lpstr>Kontortema</vt:lpstr>
      <vt:lpstr>PowerPoint Presentation</vt:lpstr>
      <vt:lpstr>Skalering af service</vt:lpstr>
      <vt:lpstr>De tre dimensioner – service</vt:lpstr>
      <vt:lpstr>Eksempel 1 – stateless Logic</vt:lpstr>
      <vt:lpstr>Eksempel – stateless Logic</vt:lpstr>
      <vt:lpstr>Eksempel 2 – stateful Logic</vt:lpstr>
      <vt:lpstr>Eksempel 2 - stateful Logic</vt:lpstr>
      <vt:lpstr>Eksempel 2 – stateful Logic </vt:lpstr>
      <vt:lpstr>Skalering af data / tilstand</vt:lpstr>
      <vt:lpstr>De tre dimensioner - data</vt:lpstr>
      <vt:lpstr>Eksempel 3 – z-scale</vt:lpstr>
      <vt:lpstr>Eksempel 3 – z-scale</vt:lpstr>
      <vt:lpstr>Resumé</vt:lpstr>
    </vt:vector>
  </TitlesOfParts>
  <Company>EFIF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Varmark (Marketingchef – eaaa.dk)</dc:creator>
  <cp:lastModifiedBy>Ole Eriksen (lektor – oler@eaaa.dk)</cp:lastModifiedBy>
  <cp:revision>157</cp:revision>
  <cp:lastPrinted>2014-02-11T13:26:00Z</cp:lastPrinted>
  <dcterms:created xsi:type="dcterms:W3CDTF">2014-02-11T09:21:34Z</dcterms:created>
  <dcterms:modified xsi:type="dcterms:W3CDTF">2026-02-10T10:19:18Z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0x01010097133A24E69C6E41AAC757A5EE7EA4CE</vt:lpwstr>
  </property>
</Properties>
</file>