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62" r:id="rId6"/>
    <p:sldId id="269" r:id="rId7"/>
    <p:sldId id="275" r:id="rId8"/>
    <p:sldId id="276" r:id="rId9"/>
    <p:sldId id="277" r:id="rId10"/>
    <p:sldId id="280" r:id="rId11"/>
    <p:sldId id="278" r:id="rId12"/>
    <p:sldId id="279" r:id="rId13"/>
    <p:sldId id="281" r:id="rId14"/>
    <p:sldId id="282" r:id="rId15"/>
    <p:sldId id="270" r:id="rId16"/>
    <p:sldId id="283" r:id="rId17"/>
  </p:sldIdLst>
  <p:sldSz cx="9144000" cy="6858000" type="screen4x3"/>
  <p:notesSz cx="6794500" cy="99314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260"/>
    <a:srgbClr val="613C8D"/>
    <a:srgbClr val="73ADA0"/>
    <a:srgbClr val="58A99F"/>
    <a:srgbClr val="3EA089"/>
    <a:srgbClr val="9DBCB0"/>
    <a:srgbClr val="62B2C4"/>
    <a:srgbClr val="75B3C0"/>
    <a:srgbClr val="79B57F"/>
    <a:srgbClr val="B52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034E78-7F5D-4C2E-B375-FC64B27BC917}" styleName="Mørkt layou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Mørkt layou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llemlayout 2 - Markering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Mørkt layout 2 - Markering 5/Markering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Ingen typografi, intet git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301" autoAdjust="0"/>
    <p:restoredTop sz="86027" autoAdjust="0"/>
  </p:normalViewPr>
  <p:slideViewPr>
    <p:cSldViewPr>
      <p:cViewPr varScale="1">
        <p:scale>
          <a:sx n="108" d="100"/>
          <a:sy n="108" d="100"/>
        </p:scale>
        <p:origin x="1368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3" d="100"/>
          <a:sy n="93" d="100"/>
        </p:scale>
        <p:origin x="3726" y="78"/>
      </p:cViewPr>
      <p:guideLst>
        <p:guide orient="horz" pos="3128"/>
        <p:guide pos="2140"/>
      </p:guideLst>
    </p:cSldViewPr>
  </p:notesViewPr>
  <p:gridSpacing cx="90012" cy="9001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003B2-37E0-4442-9C78-FB117A6F1863}" type="datetime1">
              <a:rPr lang="da-DK" smtClean="0"/>
              <a:t>03.02.2026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3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54B31C-007A-410F-BB42-8A2D3B6872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403678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62279-CC46-5447-9128-BEED102D31B5}" type="datetime1">
              <a:rPr lang="da-DK" smtClean="0"/>
              <a:t>03.02.2026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EB5FE-4561-469F-AFBF-A10AA9A1D6C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49174626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5364088" y="3559785"/>
            <a:ext cx="4221545" cy="422154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Ellipse 8"/>
          <p:cNvSpPr/>
          <p:nvPr userDrawn="1"/>
        </p:nvSpPr>
        <p:spPr>
          <a:xfrm>
            <a:off x="5586855" y="-2259632"/>
            <a:ext cx="4252626" cy="42526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18971"/>
            <a:ext cx="2448272" cy="924382"/>
          </a:xfrm>
          <a:prstGeom prst="rect">
            <a:avLst/>
          </a:prstGeom>
        </p:spPr>
      </p:pic>
      <p:sp>
        <p:nvSpPr>
          <p:cNvPr id="12" name="Ellipse 11"/>
          <p:cNvSpPr/>
          <p:nvPr userDrawn="1"/>
        </p:nvSpPr>
        <p:spPr>
          <a:xfrm>
            <a:off x="-2340768" y="0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Ellipse 12"/>
          <p:cNvSpPr/>
          <p:nvPr userDrawn="1"/>
        </p:nvSpPr>
        <p:spPr>
          <a:xfrm>
            <a:off x="5148064" y="2780928"/>
            <a:ext cx="1982724" cy="198272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2990196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62B2C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5364088" y="3559785"/>
            <a:ext cx="4221545" cy="422154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Ellipse 8"/>
          <p:cNvSpPr/>
          <p:nvPr userDrawn="1"/>
        </p:nvSpPr>
        <p:spPr>
          <a:xfrm>
            <a:off x="5586855" y="-2259632"/>
            <a:ext cx="4252626" cy="42526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18971"/>
            <a:ext cx="2448272" cy="924382"/>
          </a:xfrm>
          <a:prstGeom prst="rect">
            <a:avLst/>
          </a:prstGeom>
        </p:spPr>
      </p:pic>
      <p:sp>
        <p:nvSpPr>
          <p:cNvPr id="12" name="Ellipse 11"/>
          <p:cNvSpPr/>
          <p:nvPr userDrawn="1"/>
        </p:nvSpPr>
        <p:spPr>
          <a:xfrm>
            <a:off x="-2340768" y="0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Ellipse 12"/>
          <p:cNvSpPr/>
          <p:nvPr userDrawn="1"/>
        </p:nvSpPr>
        <p:spPr>
          <a:xfrm>
            <a:off x="5148064" y="2780928"/>
            <a:ext cx="1982724" cy="198272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4000425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5364088" y="3559785"/>
            <a:ext cx="4221545" cy="422154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Ellipse 8"/>
          <p:cNvSpPr/>
          <p:nvPr userDrawn="1"/>
        </p:nvSpPr>
        <p:spPr>
          <a:xfrm>
            <a:off x="5586855" y="-2259632"/>
            <a:ext cx="4252626" cy="42526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18971"/>
            <a:ext cx="2448272" cy="924382"/>
          </a:xfrm>
          <a:prstGeom prst="rect">
            <a:avLst/>
          </a:prstGeom>
        </p:spPr>
      </p:pic>
      <p:sp>
        <p:nvSpPr>
          <p:cNvPr id="12" name="Ellipse 11"/>
          <p:cNvSpPr/>
          <p:nvPr userDrawn="1"/>
        </p:nvSpPr>
        <p:spPr>
          <a:xfrm>
            <a:off x="-2340768" y="0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Ellipse 12"/>
          <p:cNvSpPr/>
          <p:nvPr userDrawn="1"/>
        </p:nvSpPr>
        <p:spPr>
          <a:xfrm>
            <a:off x="5148064" y="2780928"/>
            <a:ext cx="1982724" cy="198272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4000425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5364088" y="3559785"/>
            <a:ext cx="4221545" cy="422154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Ellipse 8"/>
          <p:cNvSpPr/>
          <p:nvPr userDrawn="1"/>
        </p:nvSpPr>
        <p:spPr>
          <a:xfrm>
            <a:off x="5586855" y="-2259632"/>
            <a:ext cx="4252626" cy="42526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18971"/>
            <a:ext cx="2448272" cy="924382"/>
          </a:xfrm>
          <a:prstGeom prst="rect">
            <a:avLst/>
          </a:prstGeom>
        </p:spPr>
      </p:pic>
      <p:sp>
        <p:nvSpPr>
          <p:cNvPr id="12" name="Ellipse 11"/>
          <p:cNvSpPr/>
          <p:nvPr userDrawn="1"/>
        </p:nvSpPr>
        <p:spPr>
          <a:xfrm>
            <a:off x="-2340768" y="0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Ellipse 12"/>
          <p:cNvSpPr/>
          <p:nvPr userDrawn="1"/>
        </p:nvSpPr>
        <p:spPr>
          <a:xfrm>
            <a:off x="5148064" y="2780928"/>
            <a:ext cx="1982724" cy="198272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4000425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5364088" y="3559785"/>
            <a:ext cx="4221545" cy="422154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Ellipse 8"/>
          <p:cNvSpPr/>
          <p:nvPr userDrawn="1"/>
        </p:nvSpPr>
        <p:spPr>
          <a:xfrm>
            <a:off x="5586855" y="-2259632"/>
            <a:ext cx="4252626" cy="42526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18971"/>
            <a:ext cx="2448272" cy="924382"/>
          </a:xfrm>
          <a:prstGeom prst="rect">
            <a:avLst/>
          </a:prstGeom>
        </p:spPr>
      </p:pic>
      <p:sp>
        <p:nvSpPr>
          <p:cNvPr id="12" name="Ellipse 11"/>
          <p:cNvSpPr/>
          <p:nvPr userDrawn="1"/>
        </p:nvSpPr>
        <p:spPr>
          <a:xfrm>
            <a:off x="-2340768" y="0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Ellipse 12"/>
          <p:cNvSpPr/>
          <p:nvPr userDrawn="1"/>
        </p:nvSpPr>
        <p:spPr>
          <a:xfrm>
            <a:off x="5148064" y="2780928"/>
            <a:ext cx="1982724" cy="198272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3646149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/>
          <p:cNvSpPr/>
          <p:nvPr userDrawn="1"/>
        </p:nvSpPr>
        <p:spPr>
          <a:xfrm>
            <a:off x="-4832" y="5157192"/>
            <a:ext cx="9144000" cy="172819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 userDrawn="1"/>
        </p:nvSpPr>
        <p:spPr>
          <a:xfrm>
            <a:off x="2186787" y="504565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  <p:sp>
        <p:nvSpPr>
          <p:cNvPr id="9" name="Ellipse 8"/>
          <p:cNvSpPr/>
          <p:nvPr userDrawn="1"/>
        </p:nvSpPr>
        <p:spPr>
          <a:xfrm>
            <a:off x="755576" y="5802612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139821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dsholder til billede 2"/>
          <p:cNvSpPr>
            <a:spLocks noGrp="1"/>
          </p:cNvSpPr>
          <p:nvPr>
            <p:ph type="pic" idx="10"/>
          </p:nvPr>
        </p:nvSpPr>
        <p:spPr>
          <a:xfrm>
            <a:off x="0" y="0"/>
            <a:ext cx="9144000" cy="685799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7" name="Rektangel 6"/>
          <p:cNvSpPr/>
          <p:nvPr userDrawn="1"/>
        </p:nvSpPr>
        <p:spPr>
          <a:xfrm>
            <a:off x="0" y="5157192"/>
            <a:ext cx="9157849" cy="1700807"/>
          </a:xfrm>
          <a:prstGeom prst="rect">
            <a:avLst/>
          </a:prstGeom>
          <a:solidFill>
            <a:srgbClr val="62B2C4">
              <a:alpha val="84706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 userDrawn="1"/>
        </p:nvSpPr>
        <p:spPr>
          <a:xfrm>
            <a:off x="2186787" y="504565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  <p:sp>
        <p:nvSpPr>
          <p:cNvPr id="9" name="Ellipse 8"/>
          <p:cNvSpPr/>
          <p:nvPr userDrawn="1"/>
        </p:nvSpPr>
        <p:spPr>
          <a:xfrm>
            <a:off x="755576" y="5802612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2703431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dsholder til billede 2"/>
          <p:cNvSpPr>
            <a:spLocks noGrp="1"/>
          </p:cNvSpPr>
          <p:nvPr>
            <p:ph type="pic" idx="10"/>
          </p:nvPr>
        </p:nvSpPr>
        <p:spPr>
          <a:xfrm>
            <a:off x="0" y="0"/>
            <a:ext cx="9144000" cy="685799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7" name="Rektangel 6"/>
          <p:cNvSpPr/>
          <p:nvPr userDrawn="1"/>
        </p:nvSpPr>
        <p:spPr>
          <a:xfrm>
            <a:off x="0" y="5157192"/>
            <a:ext cx="9157849" cy="1700807"/>
          </a:xfrm>
          <a:prstGeom prst="rect">
            <a:avLst/>
          </a:prstGeom>
          <a:solidFill>
            <a:srgbClr val="79B57F">
              <a:alpha val="85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 userDrawn="1"/>
        </p:nvSpPr>
        <p:spPr>
          <a:xfrm>
            <a:off x="2186787" y="504565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  <p:sp>
        <p:nvSpPr>
          <p:cNvPr id="9" name="Ellipse 8"/>
          <p:cNvSpPr/>
          <p:nvPr userDrawn="1"/>
        </p:nvSpPr>
        <p:spPr>
          <a:xfrm>
            <a:off x="755576" y="5802612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1869246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dsholder til billede 2"/>
          <p:cNvSpPr>
            <a:spLocks noGrp="1"/>
          </p:cNvSpPr>
          <p:nvPr>
            <p:ph type="pic" idx="10"/>
          </p:nvPr>
        </p:nvSpPr>
        <p:spPr>
          <a:xfrm>
            <a:off x="0" y="0"/>
            <a:ext cx="9144000" cy="685799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7" name="Rektangel 6"/>
          <p:cNvSpPr/>
          <p:nvPr userDrawn="1"/>
        </p:nvSpPr>
        <p:spPr>
          <a:xfrm>
            <a:off x="0" y="5157192"/>
            <a:ext cx="9157849" cy="1700807"/>
          </a:xfrm>
          <a:prstGeom prst="rect">
            <a:avLst/>
          </a:prstGeom>
          <a:solidFill>
            <a:srgbClr val="B52933">
              <a:alpha val="85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 userDrawn="1"/>
        </p:nvSpPr>
        <p:spPr>
          <a:xfrm>
            <a:off x="2186787" y="504565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  <p:sp>
        <p:nvSpPr>
          <p:cNvPr id="9" name="Ellipse 8"/>
          <p:cNvSpPr/>
          <p:nvPr userDrawn="1"/>
        </p:nvSpPr>
        <p:spPr>
          <a:xfrm>
            <a:off x="755576" y="5802612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3641031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dsholder til billede 2"/>
          <p:cNvSpPr>
            <a:spLocks noGrp="1"/>
          </p:cNvSpPr>
          <p:nvPr>
            <p:ph type="pic" idx="10"/>
          </p:nvPr>
        </p:nvSpPr>
        <p:spPr>
          <a:xfrm>
            <a:off x="0" y="0"/>
            <a:ext cx="9144000" cy="685799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7" name="Rektangel 6"/>
          <p:cNvSpPr/>
          <p:nvPr userDrawn="1"/>
        </p:nvSpPr>
        <p:spPr>
          <a:xfrm>
            <a:off x="0" y="5157192"/>
            <a:ext cx="9157849" cy="1700807"/>
          </a:xfrm>
          <a:prstGeom prst="rect">
            <a:avLst/>
          </a:prstGeom>
          <a:solidFill>
            <a:srgbClr val="613C8D">
              <a:alpha val="85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 userDrawn="1"/>
        </p:nvSpPr>
        <p:spPr>
          <a:xfrm>
            <a:off x="2186787" y="504565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  <p:sp>
        <p:nvSpPr>
          <p:cNvPr id="9" name="Ellipse 8"/>
          <p:cNvSpPr/>
          <p:nvPr userDrawn="1"/>
        </p:nvSpPr>
        <p:spPr>
          <a:xfrm>
            <a:off x="755576" y="5802612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3197793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/>
          <p:cNvSpPr/>
          <p:nvPr userDrawn="1"/>
        </p:nvSpPr>
        <p:spPr>
          <a:xfrm>
            <a:off x="-4832" y="0"/>
            <a:ext cx="9144000" cy="6885384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1259632" y="429309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Ellipse 11"/>
          <p:cNvSpPr/>
          <p:nvPr userDrawn="1"/>
        </p:nvSpPr>
        <p:spPr>
          <a:xfrm>
            <a:off x="2112650" y="962725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3203848" y="378904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-5144" y="2924944"/>
            <a:ext cx="9140262" cy="72008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Overskrift eller kapitel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314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62B2C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1259632" y="429309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Ellipse 11"/>
          <p:cNvSpPr/>
          <p:nvPr userDrawn="1"/>
        </p:nvSpPr>
        <p:spPr>
          <a:xfrm>
            <a:off x="2112650" y="962725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3203848" y="378904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-5144" y="2924944"/>
            <a:ext cx="9140262" cy="720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Overskrift eller kapitel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72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1259632" y="429309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Ellipse 11"/>
          <p:cNvSpPr/>
          <p:nvPr userDrawn="1"/>
        </p:nvSpPr>
        <p:spPr>
          <a:xfrm>
            <a:off x="2112650" y="962725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3203848" y="378904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-5144" y="2924944"/>
            <a:ext cx="9140262" cy="720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Overskrift eller kapitel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16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1259632" y="429309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Ellipse 11"/>
          <p:cNvSpPr/>
          <p:nvPr userDrawn="1"/>
        </p:nvSpPr>
        <p:spPr>
          <a:xfrm>
            <a:off x="2112650" y="962725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3203848" y="378904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-5144" y="2924944"/>
            <a:ext cx="9140262" cy="720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Overskrift eller kapitel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7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1259632" y="429309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Ellipse 11"/>
          <p:cNvSpPr/>
          <p:nvPr userDrawn="1"/>
        </p:nvSpPr>
        <p:spPr>
          <a:xfrm>
            <a:off x="2112650" y="962725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3203848" y="378904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-5144" y="2924944"/>
            <a:ext cx="9140262" cy="720080"/>
          </a:xfr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Overskrift eller kapitel</a:t>
            </a:r>
          </a:p>
          <a:p>
            <a:endParaRPr lang="da-DK" dirty="0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76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cxnSp>
        <p:nvCxnSpPr>
          <p:cNvPr id="15" name="Lige forbindelse 14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ladsholder til indhold 2"/>
          <p:cNvSpPr>
            <a:spLocks noGrp="1"/>
          </p:cNvSpPr>
          <p:nvPr>
            <p:ph sz="half" idx="13" hasCustomPrompt="1"/>
          </p:nvPr>
        </p:nvSpPr>
        <p:spPr>
          <a:xfrm>
            <a:off x="4752024" y="1718772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16" name="Billed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3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2B2C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9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21" name="Lige forbindelse 20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ladsholder til indhold 2"/>
          <p:cNvSpPr>
            <a:spLocks noGrp="1"/>
          </p:cNvSpPr>
          <p:nvPr>
            <p:ph sz="half" idx="13" hasCustomPrompt="1"/>
          </p:nvPr>
        </p:nvSpPr>
        <p:spPr>
          <a:xfrm>
            <a:off x="4752024" y="1718772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787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9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21" name="Lige forbindelse 20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ladsholder til indhold 2"/>
          <p:cNvSpPr>
            <a:spLocks noGrp="1"/>
          </p:cNvSpPr>
          <p:nvPr>
            <p:ph sz="half" idx="13" hasCustomPrompt="1"/>
          </p:nvPr>
        </p:nvSpPr>
        <p:spPr>
          <a:xfrm>
            <a:off x="4752024" y="1718772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1473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ladsholder til indhold 2"/>
          <p:cNvSpPr>
            <a:spLocks noGrp="1"/>
          </p:cNvSpPr>
          <p:nvPr>
            <p:ph sz="half" idx="13" hasCustomPrompt="1"/>
          </p:nvPr>
        </p:nvSpPr>
        <p:spPr>
          <a:xfrm>
            <a:off x="4752024" y="1718772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19" name="Billed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787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ladsholder til indhold 2"/>
          <p:cNvSpPr>
            <a:spLocks noGrp="1"/>
          </p:cNvSpPr>
          <p:nvPr>
            <p:ph sz="half" idx="14" hasCustomPrompt="1"/>
          </p:nvPr>
        </p:nvSpPr>
        <p:spPr>
          <a:xfrm>
            <a:off x="4752024" y="1718772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19" name="Billed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78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7200960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0136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7200960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724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2B2C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7200960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724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7200960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724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7200960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724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graphicFrame>
        <p:nvGraphicFramePr>
          <p:cNvPr id="3" name="Tabel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11509234"/>
              </p:ext>
            </p:extLst>
          </p:nvPr>
        </p:nvGraphicFramePr>
        <p:xfrm>
          <a:off x="971520" y="2168832"/>
          <a:ext cx="7176144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8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498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graphicFrame>
        <p:nvGraphicFramePr>
          <p:cNvPr id="3" name="Tabel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59368496"/>
              </p:ext>
            </p:extLst>
          </p:nvPr>
        </p:nvGraphicFramePr>
        <p:xfrm>
          <a:off x="971520" y="2168832"/>
          <a:ext cx="7176144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8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917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2B2C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graphicFrame>
        <p:nvGraphicFramePr>
          <p:cNvPr id="3" name="Tabel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59368496"/>
              </p:ext>
            </p:extLst>
          </p:nvPr>
        </p:nvGraphicFramePr>
        <p:xfrm>
          <a:off x="971520" y="2168832"/>
          <a:ext cx="7176144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8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917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graphicFrame>
        <p:nvGraphicFramePr>
          <p:cNvPr id="3" name="Tabel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59368496"/>
              </p:ext>
            </p:extLst>
          </p:nvPr>
        </p:nvGraphicFramePr>
        <p:xfrm>
          <a:off x="971520" y="2168832"/>
          <a:ext cx="7176144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8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917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graphicFrame>
        <p:nvGraphicFramePr>
          <p:cNvPr id="3" name="Tabel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40816170"/>
              </p:ext>
            </p:extLst>
          </p:nvPr>
        </p:nvGraphicFramePr>
        <p:xfrm>
          <a:off x="971520" y="2168832"/>
          <a:ext cx="7176144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8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0167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8" name="Pladsholder til indhold 2"/>
          <p:cNvSpPr>
            <a:spLocks noGrp="1"/>
          </p:cNvSpPr>
          <p:nvPr>
            <p:ph idx="18"/>
          </p:nvPr>
        </p:nvSpPr>
        <p:spPr>
          <a:xfrm>
            <a:off x="2185392" y="260648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19" name="Pladsholder til indhold 2"/>
          <p:cNvSpPr>
            <a:spLocks noGrp="1"/>
          </p:cNvSpPr>
          <p:nvPr>
            <p:ph idx="20"/>
          </p:nvPr>
        </p:nvSpPr>
        <p:spPr>
          <a:xfrm>
            <a:off x="2195736" y="2150900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idx="22"/>
          </p:nvPr>
        </p:nvSpPr>
        <p:spPr>
          <a:xfrm>
            <a:off x="2223858" y="4077104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2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3" name="Pladsholder til billede 2"/>
          <p:cNvSpPr>
            <a:spLocks noGrp="1"/>
          </p:cNvSpPr>
          <p:nvPr>
            <p:ph type="pic" idx="19"/>
          </p:nvPr>
        </p:nvSpPr>
        <p:spPr>
          <a:xfrm>
            <a:off x="441792" y="2150900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4" name="Pladsholder til billede 2"/>
          <p:cNvSpPr>
            <a:spLocks noGrp="1"/>
          </p:cNvSpPr>
          <p:nvPr>
            <p:ph type="pic" idx="21"/>
          </p:nvPr>
        </p:nvSpPr>
        <p:spPr>
          <a:xfrm>
            <a:off x="469914" y="4077104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pic>
        <p:nvPicPr>
          <p:cNvPr id="21" name="Billed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68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53A1B1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8" name="Pladsholder til indhold 2"/>
          <p:cNvSpPr>
            <a:spLocks noGrp="1"/>
          </p:cNvSpPr>
          <p:nvPr>
            <p:ph idx="18"/>
          </p:nvPr>
        </p:nvSpPr>
        <p:spPr>
          <a:xfrm>
            <a:off x="2185392" y="260648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19" name="Pladsholder til indhold 2"/>
          <p:cNvSpPr>
            <a:spLocks noGrp="1"/>
          </p:cNvSpPr>
          <p:nvPr>
            <p:ph idx="20"/>
          </p:nvPr>
        </p:nvSpPr>
        <p:spPr>
          <a:xfrm>
            <a:off x="2195736" y="2150900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idx="22"/>
          </p:nvPr>
        </p:nvSpPr>
        <p:spPr>
          <a:xfrm>
            <a:off x="2223858" y="4077104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2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3" name="Pladsholder til billede 2"/>
          <p:cNvSpPr>
            <a:spLocks noGrp="1"/>
          </p:cNvSpPr>
          <p:nvPr>
            <p:ph type="pic" idx="19"/>
          </p:nvPr>
        </p:nvSpPr>
        <p:spPr>
          <a:xfrm>
            <a:off x="441792" y="2150900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4" name="Pladsholder til billede 2"/>
          <p:cNvSpPr>
            <a:spLocks noGrp="1"/>
          </p:cNvSpPr>
          <p:nvPr>
            <p:ph type="pic" idx="21"/>
          </p:nvPr>
        </p:nvSpPr>
        <p:spPr>
          <a:xfrm>
            <a:off x="469914" y="4077104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pic>
        <p:nvPicPr>
          <p:cNvPr id="21" name="Billed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16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8" name="Pladsholder til indhold 2"/>
          <p:cNvSpPr>
            <a:spLocks noGrp="1"/>
          </p:cNvSpPr>
          <p:nvPr>
            <p:ph idx="18"/>
          </p:nvPr>
        </p:nvSpPr>
        <p:spPr>
          <a:xfrm>
            <a:off x="2185392" y="260648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19" name="Pladsholder til indhold 2"/>
          <p:cNvSpPr>
            <a:spLocks noGrp="1"/>
          </p:cNvSpPr>
          <p:nvPr>
            <p:ph idx="20"/>
          </p:nvPr>
        </p:nvSpPr>
        <p:spPr>
          <a:xfrm>
            <a:off x="2195736" y="2150900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idx="22"/>
          </p:nvPr>
        </p:nvSpPr>
        <p:spPr>
          <a:xfrm>
            <a:off x="2223858" y="4077104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2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3" name="Pladsholder til billede 2"/>
          <p:cNvSpPr>
            <a:spLocks noGrp="1"/>
          </p:cNvSpPr>
          <p:nvPr>
            <p:ph type="pic" idx="19"/>
          </p:nvPr>
        </p:nvSpPr>
        <p:spPr>
          <a:xfrm>
            <a:off x="441792" y="2150900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4" name="Pladsholder til billede 2"/>
          <p:cNvSpPr>
            <a:spLocks noGrp="1"/>
          </p:cNvSpPr>
          <p:nvPr>
            <p:ph type="pic" idx="21"/>
          </p:nvPr>
        </p:nvSpPr>
        <p:spPr>
          <a:xfrm>
            <a:off x="469914" y="4077104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pic>
        <p:nvPicPr>
          <p:cNvPr id="21" name="Billed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169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8" name="Pladsholder til indhold 2"/>
          <p:cNvSpPr>
            <a:spLocks noGrp="1"/>
          </p:cNvSpPr>
          <p:nvPr>
            <p:ph idx="18"/>
          </p:nvPr>
        </p:nvSpPr>
        <p:spPr>
          <a:xfrm>
            <a:off x="2185392" y="260648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19" name="Pladsholder til indhold 2"/>
          <p:cNvSpPr>
            <a:spLocks noGrp="1"/>
          </p:cNvSpPr>
          <p:nvPr>
            <p:ph idx="20"/>
          </p:nvPr>
        </p:nvSpPr>
        <p:spPr>
          <a:xfrm>
            <a:off x="2195736" y="2150900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idx="22"/>
          </p:nvPr>
        </p:nvSpPr>
        <p:spPr>
          <a:xfrm>
            <a:off x="2223858" y="4077104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2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3" name="Pladsholder til billede 2"/>
          <p:cNvSpPr>
            <a:spLocks noGrp="1"/>
          </p:cNvSpPr>
          <p:nvPr>
            <p:ph type="pic" idx="19"/>
          </p:nvPr>
        </p:nvSpPr>
        <p:spPr>
          <a:xfrm>
            <a:off x="441792" y="2150900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4" name="Pladsholder til billede 2"/>
          <p:cNvSpPr>
            <a:spLocks noGrp="1"/>
          </p:cNvSpPr>
          <p:nvPr>
            <p:ph type="pic" idx="21"/>
          </p:nvPr>
        </p:nvSpPr>
        <p:spPr>
          <a:xfrm>
            <a:off x="469914" y="4077104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pic>
        <p:nvPicPr>
          <p:cNvPr id="21" name="Billed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169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22" name="Pladsholder til indhold 2"/>
          <p:cNvSpPr>
            <a:spLocks noGrp="1"/>
          </p:cNvSpPr>
          <p:nvPr>
            <p:ph idx="18"/>
          </p:nvPr>
        </p:nvSpPr>
        <p:spPr>
          <a:xfrm>
            <a:off x="2185392" y="260648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1" name="Pladsholder til billede 2"/>
          <p:cNvSpPr>
            <a:spLocks noGrp="1"/>
          </p:cNvSpPr>
          <p:nvPr>
            <p:ph type="pic" idx="19"/>
          </p:nvPr>
        </p:nvSpPr>
        <p:spPr>
          <a:xfrm>
            <a:off x="441792" y="2150900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5" name="Pladsholder til indhold 2"/>
          <p:cNvSpPr>
            <a:spLocks noGrp="1"/>
          </p:cNvSpPr>
          <p:nvPr>
            <p:ph idx="20"/>
          </p:nvPr>
        </p:nvSpPr>
        <p:spPr>
          <a:xfrm>
            <a:off x="2195736" y="2150900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6" name="Pladsholder til billede 2"/>
          <p:cNvSpPr>
            <a:spLocks noGrp="1"/>
          </p:cNvSpPr>
          <p:nvPr>
            <p:ph type="pic" idx="21"/>
          </p:nvPr>
        </p:nvSpPr>
        <p:spPr>
          <a:xfrm>
            <a:off x="469914" y="4077104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7" name="Pladsholder til indhold 2"/>
          <p:cNvSpPr>
            <a:spLocks noGrp="1"/>
          </p:cNvSpPr>
          <p:nvPr>
            <p:ph idx="22"/>
          </p:nvPr>
        </p:nvSpPr>
        <p:spPr>
          <a:xfrm>
            <a:off x="2223858" y="4077104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169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8280920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67544" y="5229200"/>
            <a:ext cx="83529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5763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8280920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67544" y="5229200"/>
            <a:ext cx="83529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53A1B1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969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8280920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67544" y="5229200"/>
            <a:ext cx="83529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969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8280920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67544" y="5229200"/>
            <a:ext cx="83529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969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8280920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67544" y="5229200"/>
            <a:ext cx="83529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969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F210D-F596-4EFF-8595-A055D7084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F16AC-EC15-40C9-8A72-57D50C67B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EE17B-3CA0-4729-8D78-22AF35D21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74379F-A27A-4064-9FBF-A0CBF580D62B}" type="slidenum">
              <a:rPr lang="da-DK" altLang="da-DK"/>
              <a:pPr>
                <a:defRPr/>
              </a:pPr>
              <a:t>‹#›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6032814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223FA-48BF-4749-9054-B5E067B2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379EA-D86E-4878-877E-1DB321D73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6E03E-4708-4B5B-BB67-BB2C9583E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EF2202-5AD7-4CD5-A584-EBA56D7C82C7}" type="slidenum">
              <a:rPr lang="da-DK" altLang="da-DK"/>
              <a:pPr>
                <a:defRPr/>
              </a:pPr>
              <a:t>‹#›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173674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1061532" y="548616"/>
            <a:ext cx="7110948" cy="90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1061532" y="1808784"/>
            <a:ext cx="7110948" cy="4317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8" name="Line 49"/>
          <p:cNvSpPr>
            <a:spLocks noChangeShapeType="1"/>
          </p:cNvSpPr>
          <p:nvPr userDrawn="1"/>
        </p:nvSpPr>
        <p:spPr bwMode="auto">
          <a:xfrm>
            <a:off x="467544" y="6237312"/>
            <a:ext cx="3456384" cy="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628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73" r:id="rId3"/>
    <p:sldLayoutId id="2147483674" r:id="rId4"/>
    <p:sldLayoutId id="2147483675" r:id="rId5"/>
    <p:sldLayoutId id="2147483660" r:id="rId6"/>
    <p:sldLayoutId id="2147483676" r:id="rId7"/>
    <p:sldLayoutId id="2147483677" r:id="rId8"/>
    <p:sldLayoutId id="2147483678" r:id="rId9"/>
    <p:sldLayoutId id="2147483679" r:id="rId10"/>
    <p:sldLayoutId id="2147483667" r:id="rId11"/>
    <p:sldLayoutId id="2147483665" r:id="rId12"/>
    <p:sldLayoutId id="2147483670" r:id="rId13"/>
    <p:sldLayoutId id="2147483671" r:id="rId14"/>
    <p:sldLayoutId id="2147483650" r:id="rId15"/>
    <p:sldLayoutId id="2147483652" r:id="rId16"/>
    <p:sldLayoutId id="2147483680" r:id="rId17"/>
    <p:sldLayoutId id="2147483666" r:id="rId18"/>
    <p:sldLayoutId id="2147483681" r:id="rId19"/>
    <p:sldLayoutId id="2147483682" r:id="rId20"/>
    <p:sldLayoutId id="2147483664" r:id="rId21"/>
    <p:sldLayoutId id="2147483707" r:id="rId22"/>
    <p:sldLayoutId id="2147483708" r:id="rId23"/>
    <p:sldLayoutId id="2147483709" r:id="rId24"/>
    <p:sldLayoutId id="2147483710" r:id="rId25"/>
    <p:sldLayoutId id="2147483700" r:id="rId26"/>
    <p:sldLayoutId id="2147483711" r:id="rId27"/>
    <p:sldLayoutId id="2147483712" r:id="rId28"/>
    <p:sldLayoutId id="2147483713" r:id="rId29"/>
    <p:sldLayoutId id="2147483714" r:id="rId30"/>
    <p:sldLayoutId id="2147483663" r:id="rId31"/>
    <p:sldLayoutId id="2147483687" r:id="rId32"/>
    <p:sldLayoutId id="2147483688" r:id="rId33"/>
    <p:sldLayoutId id="2147483689" r:id="rId34"/>
    <p:sldLayoutId id="2147483690" r:id="rId35"/>
    <p:sldLayoutId id="2147483662" r:id="rId36"/>
    <p:sldLayoutId id="2147483696" r:id="rId37"/>
    <p:sldLayoutId id="2147483697" r:id="rId38"/>
    <p:sldLayoutId id="2147483698" r:id="rId39"/>
    <p:sldLayoutId id="2147483699" r:id="rId40"/>
    <p:sldLayoutId id="2147483715" r:id="rId41"/>
    <p:sldLayoutId id="2147483716" r:id="rId4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Lucida Sans" panose="020B0602030504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Lucida Sans" panose="020B060203050402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–"/>
        <a:defRPr sz="1800" b="1" kern="1200">
          <a:solidFill>
            <a:schemeClr val="tx1"/>
          </a:solidFill>
          <a:latin typeface="Lucida Sans" panose="020B0602030504020204" pitchFamily="34" charset="0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800" b="0" kern="1200">
          <a:solidFill>
            <a:schemeClr val="tx1"/>
          </a:solidFill>
          <a:latin typeface="Lucida Sans" panose="020B0602030504020204" pitchFamily="34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Lucida Sans" panose="020B0602030504020204" pitchFamily="34" charset="0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400" kern="1200">
          <a:solidFill>
            <a:schemeClr val="bg1">
              <a:lumMod val="50000"/>
            </a:schemeClr>
          </a:solidFill>
          <a:latin typeface="Lucida Sans" panose="020B060203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460" y="1448736"/>
            <a:ext cx="8101080" cy="3240432"/>
          </a:xfrm>
        </p:spPr>
        <p:txBody>
          <a:bodyPr>
            <a:noAutofit/>
          </a:bodyPr>
          <a:lstStyle/>
          <a:p>
            <a:pPr algn="ctr"/>
            <a:r>
              <a:rPr lang="da-DK" sz="4800" dirty="0"/>
              <a:t>Intro til case – en intern søgemaskine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8E5150-189F-40AE-CB19-7CC90B769B63}"/>
              </a:ext>
            </a:extLst>
          </p:cNvPr>
          <p:cNvSpPr txBox="1"/>
          <p:nvPr/>
        </p:nvSpPr>
        <p:spPr>
          <a:xfrm>
            <a:off x="723318" y="4239108"/>
            <a:ext cx="384868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400" dirty="0">
                <a:solidFill>
                  <a:schemeClr val="bg1"/>
                </a:solidFill>
              </a:rPr>
              <a:t>Kontekst og krav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400" dirty="0">
                <a:solidFill>
                  <a:schemeClr val="bg1"/>
                </a:solidFill>
              </a:rPr>
              <a:t>Brugerfladen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400" dirty="0">
                <a:solidFill>
                  <a:schemeClr val="bg1"/>
                </a:solidFill>
              </a:rPr>
              <a:t>Indeksering og datamodel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400" dirty="0">
                <a:solidFill>
                  <a:schemeClr val="bg1"/>
                </a:solidFill>
              </a:rPr>
              <a:t>Arkitektur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400" dirty="0" err="1">
                <a:solidFill>
                  <a:schemeClr val="bg1"/>
                </a:solidFill>
              </a:rPr>
              <a:t>Walking</a:t>
            </a:r>
            <a:r>
              <a:rPr lang="da-DK" sz="2400" dirty="0">
                <a:solidFill>
                  <a:schemeClr val="bg1"/>
                </a:solidFill>
              </a:rPr>
              <a:t> </a:t>
            </a:r>
            <a:r>
              <a:rPr lang="da-DK" sz="2400" dirty="0" err="1">
                <a:solidFill>
                  <a:schemeClr val="bg1"/>
                </a:solidFill>
              </a:rPr>
              <a:t>Skeleton</a:t>
            </a:r>
            <a:endParaRPr lang="da-DK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787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B298B-160F-82FF-58EE-611709687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Kontekst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D21744-99C2-87DB-578F-CEE523976A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En virksomhed/organisation med 50++ ansatte, som arbejder med og producerer dokumenter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Dokumenter indeholder ustruktureret data og findes i mange formater (docx, pdf, rtf, </a:t>
            </a:r>
            <a:r>
              <a:rPr lang="da-DK" dirty="0" err="1"/>
              <a:t>txt</a:t>
            </a:r>
            <a:r>
              <a:rPr lang="da-DK" dirty="0"/>
              <a:t>, </a:t>
            </a:r>
            <a:r>
              <a:rPr lang="da-DK" dirty="0" err="1"/>
              <a:t>csv</a:t>
            </a:r>
            <a:r>
              <a:rPr lang="da-DK" dirty="0"/>
              <a:t>, </a:t>
            </a:r>
            <a:r>
              <a:rPr lang="da-DK" dirty="0" err="1"/>
              <a:t>pptx</a:t>
            </a:r>
            <a:r>
              <a:rPr lang="da-DK" dirty="0"/>
              <a:t>, </a:t>
            </a:r>
            <a:r>
              <a:rPr lang="da-DK" dirty="0" err="1"/>
              <a:t>xlxs</a:t>
            </a:r>
            <a:r>
              <a:rPr lang="da-DK" dirty="0"/>
              <a:t> osv.)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Den samlede dokument samling er allokeret på mange fil servere på tilsammen flere </a:t>
            </a:r>
            <a:r>
              <a:rPr lang="da-DK" dirty="0" err="1"/>
              <a:t>terra</a:t>
            </a:r>
            <a:r>
              <a:rPr lang="da-DK" dirty="0"/>
              <a:t>-bytes.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Behovet er et søgesystem, som tilbyder “</a:t>
            </a:r>
            <a:r>
              <a:rPr lang="da-DK" dirty="0" err="1"/>
              <a:t>instant</a:t>
            </a:r>
            <a:r>
              <a:rPr lang="da-DK" dirty="0"/>
              <a:t> content </a:t>
            </a:r>
            <a:r>
              <a:rPr lang="da-DK" dirty="0" err="1"/>
              <a:t>search</a:t>
            </a:r>
            <a:r>
              <a:rPr lang="da-DK" dirty="0"/>
              <a:t>” og som kan tilpasses domænet.</a:t>
            </a:r>
          </a:p>
        </p:txBody>
      </p:sp>
    </p:spTree>
    <p:extLst>
      <p:ext uri="{BB962C8B-B14F-4D97-AF65-F5344CB8AC3E}">
        <p14:creationId xmlns:p14="http://schemas.microsoft.com/office/powerpoint/2010/main" val="3760259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03578-2D6A-C5ED-C5D8-0E93B585D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Brugergrænsefladen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913BB-DB2F-C696-61C0-A5D68ABDCE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1520" y="1718773"/>
            <a:ext cx="7651020" cy="3960528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Brugergrænsefladen kan være en web applikation eller en desktop applikation.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Web applikationen vil være begrænset til intranettet.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En desktop applikation skal installeres på alle computere.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Brugeren vil have en Google-like brugerflade, hvor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/>
              <a:t>der indtastes søgeord (</a:t>
            </a:r>
            <a:r>
              <a:rPr lang="da-DK" dirty="0" err="1"/>
              <a:t>query</a:t>
            </a:r>
            <a:r>
              <a:rPr lang="da-DK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/>
              <a:t>Resultatet er en liste af hits med titel, link, dato, score og </a:t>
            </a:r>
            <a:r>
              <a:rPr lang="da-DK" dirty="0" err="1"/>
              <a:t>snippet</a:t>
            </a:r>
            <a:r>
              <a:rPr lang="da-DK" dirty="0"/>
              <a:t>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85288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E0358-D6C7-2BE0-E8F3-A100C1481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Specielle Krav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A7015-70DA-322D-FA38-AEB875FCB2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100% </a:t>
            </a:r>
            <a:r>
              <a:rPr lang="da-DK" dirty="0" err="1"/>
              <a:t>recall</a:t>
            </a:r>
            <a:r>
              <a:rPr lang="da-DK" dirty="0"/>
              <a:t> – det betyder, at alle dokumenter, som indeholder mindst et af søgeordene, skal med i resultatet.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 err="1"/>
              <a:t>Rankeringen</a:t>
            </a:r>
            <a:r>
              <a:rPr lang="da-DK" dirty="0"/>
              <a:t> skal være med aftagene score.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Givet en søgning og et dokument, så er scoren et tal mellem 0 og 1.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/>
              <a:t>0 hvis ingen af søgeordene er i dokumentet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/>
              <a:t>1 hvis alle søgeordene er i dokumentet.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/>
              <a:t>Hvis x% af søgeordene er i dokumentet, så er scoren x/100.</a:t>
            </a:r>
          </a:p>
        </p:txBody>
      </p:sp>
    </p:spTree>
    <p:extLst>
      <p:ext uri="{BB962C8B-B14F-4D97-AF65-F5344CB8AC3E}">
        <p14:creationId xmlns:p14="http://schemas.microsoft.com/office/powerpoint/2010/main" val="1090091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0E278-6EDC-347C-8951-7AF1DFF2B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Tilpasse domæne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F5D5C-BFED-6768-2404-710B26D01D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Hvert domæne (ingeniør, forsikring, politi, </a:t>
            </a:r>
            <a:r>
              <a:rPr lang="da-DK" dirty="0" err="1"/>
              <a:t>meteologi</a:t>
            </a:r>
            <a:r>
              <a:rPr lang="da-DK" dirty="0"/>
              <a:t>…) har nogle specifikke betegnelser/slang.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Det skal være muligt at søge efter (domæne specifikke) synonymer.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Dette kan gøres ved, at søgemaskinen gør brug af en domæne specifik synonym ordbog (</a:t>
            </a:r>
            <a:r>
              <a:rPr lang="da-DK" dirty="0" err="1"/>
              <a:t>termnet</a:t>
            </a:r>
            <a:r>
              <a:rPr lang="da-DK" dirty="0"/>
              <a:t>), således at der også søges på synonymer.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Det konkrete indhold af synonym ordbogen kan vedligeholdes af brugerne (domænet).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23931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14B92-775B-CF3A-88AD-EA542DEFF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Indeksering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462B5-3836-07B0-BD60-F764F1C12B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For at kunne udføre indholdssøgning i millioner af dokumenter effektivt, kan man indeksere dokumenterne.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En indekser gennemlæser dokumenter (eng: crawl) og for hvert af disse vil det udtrække ord og danne et </a:t>
            </a:r>
            <a:r>
              <a:rPr lang="da-DK" i="1" dirty="0"/>
              <a:t>omvendt indeks</a:t>
            </a:r>
            <a:r>
              <a:rPr lang="da-DK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Et omvendt indeks tilbyder effektiv søgning for dokumenter som indeholder bestemte ord.</a:t>
            </a:r>
          </a:p>
        </p:txBody>
      </p:sp>
    </p:spTree>
    <p:extLst>
      <p:ext uri="{BB962C8B-B14F-4D97-AF65-F5344CB8AC3E}">
        <p14:creationId xmlns:p14="http://schemas.microsoft.com/office/powerpoint/2010/main" val="2702195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52AF7-7C18-1B24-E8DC-779A5EFA8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da-DK" dirty="0"/>
              <a:t>En begrebsmæssig datamodel for det omvendte indeks.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680A9D-A10F-E705-42CE-C4F847CF47CC}"/>
              </a:ext>
            </a:extLst>
          </p:cNvPr>
          <p:cNvSpPr txBox="1"/>
          <p:nvPr/>
        </p:nvSpPr>
        <p:spPr>
          <a:xfrm>
            <a:off x="521460" y="2483620"/>
            <a:ext cx="186723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DK" dirty="0"/>
              <a:t>Document</a:t>
            </a:r>
            <a:endParaRPr lang="en-DK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dirty="0"/>
              <a:t>Title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dirty="0"/>
              <a:t>Link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dirty="0"/>
              <a:t>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7F8231-4878-A808-31AC-4E9AC7B600BA}"/>
              </a:ext>
            </a:extLst>
          </p:cNvPr>
          <p:cNvSpPr txBox="1"/>
          <p:nvPr/>
        </p:nvSpPr>
        <p:spPr>
          <a:xfrm>
            <a:off x="6912313" y="2760618"/>
            <a:ext cx="126016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DK" dirty="0"/>
              <a:t>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dirty="0"/>
              <a:t>value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B80E7F-09F4-8B56-506F-D77CA0DD5892}"/>
              </a:ext>
            </a:extLst>
          </p:cNvPr>
          <p:cNvGrpSpPr/>
          <p:nvPr/>
        </p:nvGrpSpPr>
        <p:grpSpPr>
          <a:xfrm>
            <a:off x="3401844" y="2228671"/>
            <a:ext cx="2340312" cy="1710228"/>
            <a:chOff x="3311832" y="3429000"/>
            <a:chExt cx="2340312" cy="1710228"/>
          </a:xfrm>
        </p:grpSpPr>
        <p:sp>
          <p:nvSpPr>
            <p:cNvPr id="9" name="Diamond 8">
              <a:extLst>
                <a:ext uri="{FF2B5EF4-FFF2-40B4-BE49-F238E27FC236}">
                  <a16:creationId xmlns:a16="http://schemas.microsoft.com/office/drawing/2014/main" id="{E97999B9-1696-6F6C-FAA9-1FFE0AE0ED07}"/>
                </a:ext>
              </a:extLst>
            </p:cNvPr>
            <p:cNvSpPr/>
            <p:nvPr/>
          </p:nvSpPr>
          <p:spPr>
            <a:xfrm>
              <a:off x="3311832" y="3429000"/>
              <a:ext cx="2340312" cy="1710228"/>
            </a:xfrm>
            <a:prstGeom prst="diamond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9DAD02-A494-BD11-CBDF-07F7D7B91C08}"/>
                </a:ext>
              </a:extLst>
            </p:cNvPr>
            <p:cNvSpPr txBox="1"/>
            <p:nvPr/>
          </p:nvSpPr>
          <p:spPr>
            <a:xfrm>
              <a:off x="3940961" y="4099448"/>
              <a:ext cx="1262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 err="1"/>
                <a:t>Occurrence</a:t>
              </a:r>
              <a:endParaRPr lang="da-DK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31E3D1-A278-5DF2-0622-19FED08FAD62}"/>
              </a:ext>
            </a:extLst>
          </p:cNvPr>
          <p:cNvCxnSpPr>
            <a:stCxn id="4" idx="3"/>
            <a:endCxn id="9" idx="1"/>
          </p:cNvCxnSpPr>
          <p:nvPr/>
        </p:nvCxnSpPr>
        <p:spPr>
          <a:xfrm>
            <a:off x="2388693" y="3083785"/>
            <a:ext cx="10131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A9BD59-60BE-DCDA-0B8E-FF343D6911CB}"/>
              </a:ext>
            </a:extLst>
          </p:cNvPr>
          <p:cNvCxnSpPr>
            <a:cxnSpLocks/>
            <a:stCxn id="9" idx="3"/>
            <a:endCxn id="5" idx="1"/>
          </p:cNvCxnSpPr>
          <p:nvPr/>
        </p:nvCxnSpPr>
        <p:spPr>
          <a:xfrm flipV="1">
            <a:off x="5742156" y="3083784"/>
            <a:ext cx="117015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0A2083F-FD2F-3234-6F53-71F445693ABE}"/>
              </a:ext>
            </a:extLst>
          </p:cNvPr>
          <p:cNvSpPr txBox="1"/>
          <p:nvPr/>
        </p:nvSpPr>
        <p:spPr>
          <a:xfrm>
            <a:off x="2395079" y="2760618"/>
            <a:ext cx="540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*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6F9087-244E-CBE7-20BC-BBE8E62A8D8A}"/>
              </a:ext>
            </a:extLst>
          </p:cNvPr>
          <p:cNvSpPr txBox="1"/>
          <p:nvPr/>
        </p:nvSpPr>
        <p:spPr>
          <a:xfrm flipV="1">
            <a:off x="6128288" y="2690350"/>
            <a:ext cx="747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*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96214D-0987-9BD6-20F8-D2E293E91D50}"/>
              </a:ext>
            </a:extLst>
          </p:cNvPr>
          <p:cNvSpPr txBox="1"/>
          <p:nvPr/>
        </p:nvSpPr>
        <p:spPr>
          <a:xfrm>
            <a:off x="805539" y="4284114"/>
            <a:ext cx="7040389" cy="1200329"/>
          </a:xfrm>
          <a:prstGeom prst="rect">
            <a:avLst/>
          </a:prstGeom>
          <a:solidFill>
            <a:srgbClr val="FFFF00">
              <a:alpha val="23000"/>
            </a:srgbClr>
          </a:solidFill>
        </p:spPr>
        <p:txBody>
          <a:bodyPr wrap="none" rtlCol="0">
            <a:spAutoFit/>
          </a:bodyPr>
          <a:lstStyle/>
          <a:p>
            <a:r>
              <a:rPr lang="da-DK" dirty="0"/>
              <a:t>Filsystemet kan hurtigt svare på hvilke ord et givet dokument indeholder. </a:t>
            </a:r>
          </a:p>
          <a:p>
            <a:r>
              <a:rPr lang="da-DK" dirty="0"/>
              <a:t>Behovet er dog hurtige svar på det omvendte: </a:t>
            </a:r>
          </a:p>
          <a:p>
            <a:endParaRPr lang="da-DK" dirty="0"/>
          </a:p>
          <a:p>
            <a:r>
              <a:rPr lang="da-DK" dirty="0"/>
              <a:t>                          Hvilke dokumenter indeholder et givet ord?</a:t>
            </a:r>
          </a:p>
        </p:txBody>
      </p:sp>
    </p:spTree>
    <p:extLst>
      <p:ext uri="{BB962C8B-B14F-4D97-AF65-F5344CB8AC3E}">
        <p14:creationId xmlns:p14="http://schemas.microsoft.com/office/powerpoint/2010/main" val="914110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FAC04-76D2-BAF5-1CAE-45EED23DD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da-DK" dirty="0"/>
              <a:t>En relationel datamodel for det omvendte indeks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8C2FD-3EB9-ED65-5F51-8A6999611606}"/>
              </a:ext>
            </a:extLst>
          </p:cNvPr>
          <p:cNvSpPr txBox="1"/>
          <p:nvPr/>
        </p:nvSpPr>
        <p:spPr>
          <a:xfrm>
            <a:off x="561492" y="1959237"/>
            <a:ext cx="1867233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DK" dirty="0"/>
              <a:t>Document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u="sng" dirty="0"/>
              <a:t>docId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dirty="0"/>
              <a:t>Title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dirty="0"/>
              <a:t>Link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dirty="0"/>
              <a:t>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AEF2F7-BBC0-D9DE-A411-4DBB08105840}"/>
              </a:ext>
            </a:extLst>
          </p:cNvPr>
          <p:cNvSpPr txBox="1"/>
          <p:nvPr/>
        </p:nvSpPr>
        <p:spPr>
          <a:xfrm>
            <a:off x="6942242" y="2228671"/>
            <a:ext cx="186723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DK" dirty="0"/>
              <a:t>Term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u="sng" dirty="0"/>
              <a:t>termId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dirty="0"/>
              <a:t>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FA6C76-1D84-7929-C184-2433273BAF0D}"/>
              </a:ext>
            </a:extLst>
          </p:cNvPr>
          <p:cNvSpPr txBox="1"/>
          <p:nvPr/>
        </p:nvSpPr>
        <p:spPr>
          <a:xfrm>
            <a:off x="3761892" y="1988808"/>
            <a:ext cx="186723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DK" dirty="0"/>
              <a:t>Occurrence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u="sng" dirty="0"/>
              <a:t>docId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u="sng" dirty="0"/>
              <a:t>termId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C278749-CD14-E359-EC28-E3D68F1FF5E3}"/>
              </a:ext>
            </a:extLst>
          </p:cNvPr>
          <p:cNvCxnSpPr>
            <a:cxnSpLocks/>
          </p:cNvCxnSpPr>
          <p:nvPr/>
        </p:nvCxnSpPr>
        <p:spPr>
          <a:xfrm flipH="1">
            <a:off x="1691616" y="2438868"/>
            <a:ext cx="207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1CEECED-BE90-BA6D-5571-7FE21108A886}"/>
              </a:ext>
            </a:extLst>
          </p:cNvPr>
          <p:cNvCxnSpPr>
            <a:cxnSpLocks/>
          </p:cNvCxnSpPr>
          <p:nvPr/>
        </p:nvCxnSpPr>
        <p:spPr>
          <a:xfrm>
            <a:off x="4932048" y="2708904"/>
            <a:ext cx="20101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834A054-44F6-8579-5DFB-BD32595823F9}"/>
              </a:ext>
            </a:extLst>
          </p:cNvPr>
          <p:cNvSpPr txBox="1"/>
          <p:nvPr/>
        </p:nvSpPr>
        <p:spPr>
          <a:xfrm>
            <a:off x="3761892" y="4149096"/>
            <a:ext cx="3980833" cy="646331"/>
          </a:xfrm>
          <a:prstGeom prst="rect">
            <a:avLst/>
          </a:prstGeom>
          <a:solidFill>
            <a:srgbClr val="F4E260">
              <a:alpha val="34572"/>
            </a:srgb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Heri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placeres</a:t>
            </a:r>
            <a:r>
              <a:rPr lang="en-US" dirty="0"/>
              <a:t> attributer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knytter</a:t>
            </a:r>
            <a:r>
              <a:rPr lang="en-US" dirty="0"/>
              <a:t> </a:t>
            </a:r>
          </a:p>
          <a:p>
            <a:r>
              <a:rPr lang="en-US" dirty="0"/>
              <a:t>sig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forekomst</a:t>
            </a:r>
            <a:r>
              <a:rPr lang="en-US" dirty="0"/>
              <a:t>, </a:t>
            </a:r>
            <a:r>
              <a:rPr lang="en-US" dirty="0" err="1"/>
              <a:t>fx</a:t>
            </a:r>
            <a:r>
              <a:rPr lang="en-US" dirty="0"/>
              <a:t>. position </a:t>
            </a:r>
            <a:r>
              <a:rPr lang="en-US" dirty="0" err="1"/>
              <a:t>eller</a:t>
            </a:r>
            <a:r>
              <a:rPr lang="en-US" dirty="0"/>
              <a:t> count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B1F133-69CF-F6B2-6714-D2A6201E69E6}"/>
              </a:ext>
            </a:extLst>
          </p:cNvPr>
          <p:cNvCxnSpPr>
            <a:stCxn id="3" idx="0"/>
          </p:cNvCxnSpPr>
          <p:nvPr/>
        </p:nvCxnSpPr>
        <p:spPr>
          <a:xfrm flipH="1" flipV="1">
            <a:off x="5112072" y="3429000"/>
            <a:ext cx="640237" cy="72009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903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F330E-1777-769A-8DA0-A7835CCF4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da-DK" dirty="0" err="1"/>
              <a:t>Walking</a:t>
            </a:r>
            <a:r>
              <a:rPr lang="da-DK" dirty="0"/>
              <a:t> </a:t>
            </a:r>
            <a:r>
              <a:rPr lang="da-DK" dirty="0" err="1"/>
              <a:t>Skeleton</a:t>
            </a:r>
            <a:r>
              <a:rPr lang="da-DK" dirty="0"/>
              <a:t> (version 1)</a:t>
            </a:r>
            <a:br>
              <a:rPr lang="da-DK" dirty="0"/>
            </a:br>
            <a:r>
              <a:rPr lang="da-DK" dirty="0"/>
              <a:t>Funktionalitet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EA8E8-85BC-0127-AE86-DAE09D9533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Søgningen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/>
              <a:t>er et konsol program indeholdende søgelogikken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/>
              <a:t>Ingen </a:t>
            </a:r>
            <a:r>
              <a:rPr lang="da-DK" dirty="0" err="1"/>
              <a:t>snippets</a:t>
            </a:r>
            <a:endParaRPr lang="da-DK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/>
              <a:t>Ingen synonym ordbog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Indekser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/>
              <a:t>er et konsol program og kan indeksere filer og foldere i en folder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/>
              <a:t>Kan kun indeksere .</a:t>
            </a:r>
            <a:r>
              <a:rPr lang="da-DK" dirty="0" err="1"/>
              <a:t>txt</a:t>
            </a:r>
            <a:r>
              <a:rPr lang="da-DK" dirty="0"/>
              <a:t> dokumenter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/>
              <a:t>kan ikke opdatere – laver helt nyt indeks når den startes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Databasen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/>
              <a:t>En simpel </a:t>
            </a:r>
            <a:r>
              <a:rPr lang="da-DK" dirty="0" err="1"/>
              <a:t>SQLite</a:t>
            </a:r>
            <a:r>
              <a:rPr lang="da-DK" dirty="0"/>
              <a:t>/</a:t>
            </a:r>
            <a:r>
              <a:rPr lang="da-DK" dirty="0" err="1"/>
              <a:t>Postgres</a:t>
            </a:r>
            <a:r>
              <a:rPr lang="da-DK" dirty="0"/>
              <a:t> database med 3 tabeller: Document, Word, og </a:t>
            </a:r>
            <a:r>
              <a:rPr lang="da-DK" dirty="0" err="1"/>
              <a:t>Occurrence</a:t>
            </a:r>
            <a:r>
              <a:rPr lang="da-D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132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C4B44-7512-B8A3-94CC-50587612B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da-DK" dirty="0" err="1"/>
              <a:t>Walking</a:t>
            </a:r>
            <a:r>
              <a:rPr lang="da-DK" dirty="0"/>
              <a:t> </a:t>
            </a:r>
            <a:r>
              <a:rPr lang="da-DK" dirty="0" err="1"/>
              <a:t>Skeleton</a:t>
            </a:r>
            <a:r>
              <a:rPr lang="da-DK" dirty="0"/>
              <a:t> (version 1)</a:t>
            </a:r>
            <a:br>
              <a:rPr lang="da-DK" dirty="0"/>
            </a:br>
            <a:r>
              <a:rPr lang="da-DK" dirty="0"/>
              <a:t>Arkitektur – class diagram</a:t>
            </a:r>
          </a:p>
        </p:txBody>
      </p:sp>
      <p:pic>
        <p:nvPicPr>
          <p:cNvPr id="4" name="Picture 3" descr="A diagram of a application&#10;&#10;AI-generated content may be incorrect.">
            <a:extLst>
              <a:ext uri="{FF2B5EF4-FFF2-40B4-BE49-F238E27FC236}">
                <a16:creationId xmlns:a16="http://schemas.microsoft.com/office/drawing/2014/main" id="{625E7CCE-181F-F488-9F4C-8C956B337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68" y="1800762"/>
            <a:ext cx="8607420" cy="357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083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C4B44-7512-B8A3-94CC-50587612B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da-DK" dirty="0" err="1"/>
              <a:t>Walking</a:t>
            </a:r>
            <a:r>
              <a:rPr lang="da-DK" dirty="0"/>
              <a:t> </a:t>
            </a:r>
            <a:r>
              <a:rPr lang="da-DK" dirty="0" err="1"/>
              <a:t>Skeleton</a:t>
            </a:r>
            <a:r>
              <a:rPr lang="da-DK" dirty="0"/>
              <a:t> (version 1)</a:t>
            </a:r>
            <a:br>
              <a:rPr lang="da-DK" dirty="0"/>
            </a:br>
            <a:r>
              <a:rPr lang="da-DK" dirty="0"/>
              <a:t>Arkitektur - </a:t>
            </a:r>
            <a:r>
              <a:rPr lang="da-DK" dirty="0" err="1"/>
              <a:t>deployment</a:t>
            </a:r>
            <a:endParaRPr lang="da-DK" dirty="0"/>
          </a:p>
        </p:txBody>
      </p:sp>
      <p:pic>
        <p:nvPicPr>
          <p:cNvPr id="4" name="Picture 3" descr="A diagram of a computer component&#10;&#10;Description automatically generated">
            <a:extLst>
              <a:ext uri="{FF2B5EF4-FFF2-40B4-BE49-F238E27FC236}">
                <a16:creationId xmlns:a16="http://schemas.microsoft.com/office/drawing/2014/main" id="{2562E79F-1CF5-7677-5779-15C9572C4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517650"/>
            <a:ext cx="5588000" cy="382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820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FA6C7-B8C4-759C-7049-C85CA5758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Arkitektur – version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895494-ED8C-2D73-A0BC-7D6539FC031B}"/>
              </a:ext>
            </a:extLst>
          </p:cNvPr>
          <p:cNvSpPr txBox="1"/>
          <p:nvPr/>
        </p:nvSpPr>
        <p:spPr>
          <a:xfrm>
            <a:off x="3181341" y="1792062"/>
            <a:ext cx="186723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DK" dirty="0"/>
              <a:t>Search program</a:t>
            </a:r>
            <a:br>
              <a:rPr lang="en-DK" dirty="0"/>
            </a:br>
            <a:r>
              <a:rPr lang="en-DK" dirty="0"/>
              <a:t>Desktop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FC0014-DA7A-BA91-EEF4-803F7D3566A7}"/>
              </a:ext>
            </a:extLst>
          </p:cNvPr>
          <p:cNvSpPr txBox="1"/>
          <p:nvPr/>
        </p:nvSpPr>
        <p:spPr>
          <a:xfrm>
            <a:off x="2440839" y="3080926"/>
            <a:ext cx="186723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DK" dirty="0"/>
              <a:t>Search Engine</a:t>
            </a:r>
            <a:br>
              <a:rPr lang="en-DK" dirty="0"/>
            </a:br>
            <a:r>
              <a:rPr lang="en-DK" dirty="0"/>
              <a:t>(API)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0C2A39-CF2B-28F7-CCE2-EAE8914DBE7F}"/>
              </a:ext>
            </a:extLst>
          </p:cNvPr>
          <p:cNvSpPr txBox="1"/>
          <p:nvPr/>
        </p:nvSpPr>
        <p:spPr>
          <a:xfrm>
            <a:off x="2440839" y="4613447"/>
            <a:ext cx="186723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DK" dirty="0"/>
              <a:t>Database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3996586-3068-621F-F3B2-6710441D278C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3374456" y="2438393"/>
            <a:ext cx="740502" cy="642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419F1B0-25E9-AE76-F434-B1F13210F1F1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3374456" y="3727257"/>
            <a:ext cx="0" cy="886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F312DD0-0D7F-412D-740A-72C54497D2EC}"/>
              </a:ext>
            </a:extLst>
          </p:cNvPr>
          <p:cNvSpPr txBox="1"/>
          <p:nvPr/>
        </p:nvSpPr>
        <p:spPr>
          <a:xfrm>
            <a:off x="5048574" y="3214831"/>
            <a:ext cx="186723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DK" dirty="0"/>
              <a:t>Indexer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DF9323-633F-27F5-9768-D6DD6036A2DE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3374455" y="3676496"/>
            <a:ext cx="2607736" cy="926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Billedresultat for icon filesystem">
            <a:extLst>
              <a:ext uri="{FF2B5EF4-FFF2-40B4-BE49-F238E27FC236}">
                <a16:creationId xmlns:a16="http://schemas.microsoft.com/office/drawing/2014/main" id="{B64318E6-759D-33DF-46E0-C797A3F06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704" y="4602703"/>
            <a:ext cx="1152902" cy="11529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1D083B-0F62-34EB-7B92-B4ECD28F25F1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982191" y="3676496"/>
            <a:ext cx="1303866" cy="461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5CFBB02-4050-1D9C-5CC3-94A34A9C284E}"/>
              </a:ext>
            </a:extLst>
          </p:cNvPr>
          <p:cNvSpPr txBox="1"/>
          <p:nvPr/>
        </p:nvSpPr>
        <p:spPr>
          <a:xfrm>
            <a:off x="6658995" y="4151782"/>
            <a:ext cx="1494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/>
              <a:t>File system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F01334-8584-33F7-DFF0-882CFDA2B6CD}"/>
              </a:ext>
            </a:extLst>
          </p:cNvPr>
          <p:cNvSpPr txBox="1"/>
          <p:nvPr/>
        </p:nvSpPr>
        <p:spPr>
          <a:xfrm>
            <a:off x="1040415" y="1808784"/>
            <a:ext cx="186723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DK" dirty="0"/>
              <a:t>Search program</a:t>
            </a:r>
            <a:br>
              <a:rPr lang="en-DK"/>
            </a:br>
            <a:r>
              <a:rPr lang="en-DK"/>
              <a:t>WebApp</a:t>
            </a:r>
            <a:endParaRPr lang="en-DK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5334B65-FA06-CF4F-0B0C-5B6B66FED46A}"/>
              </a:ext>
            </a:extLst>
          </p:cNvPr>
          <p:cNvCxnSpPr>
            <a:cxnSpLocks/>
            <a:stCxn id="16" idx="2"/>
            <a:endCxn id="7" idx="0"/>
          </p:cNvCxnSpPr>
          <p:nvPr/>
        </p:nvCxnSpPr>
        <p:spPr>
          <a:xfrm>
            <a:off x="1974032" y="2455115"/>
            <a:ext cx="1400424" cy="625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016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C1DB4-1CF1-E1F1-104A-E70CC6631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Class diagram – version 2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BA4BDA-2A94-FCED-062C-5178E1897FA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84" y="1628759"/>
            <a:ext cx="6930924" cy="4186379"/>
          </a:xfrm>
        </p:spPr>
      </p:pic>
    </p:spTree>
    <p:extLst>
      <p:ext uri="{BB962C8B-B14F-4D97-AF65-F5344CB8AC3E}">
        <p14:creationId xmlns:p14="http://schemas.microsoft.com/office/powerpoint/2010/main" val="1270693798"/>
      </p:ext>
    </p:extLst>
  </p:cSld>
  <p:clrMapOvr>
    <a:masterClrMapping/>
  </p:clrMapOvr>
</p:sld>
</file>

<file path=ppt/theme/theme1.xml><?xml version="1.0" encoding="utf-8"?>
<a:theme xmlns:a="http://schemas.openxmlformats.org/drawingml/2006/main" name="Kontortema">
  <a:themeElements>
    <a:clrScheme name="Brugerdefineret 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2060"/>
      </a:hlink>
      <a:folHlink>
        <a:srgbClr val="00206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7133A24E69C6E41AAC757A5EE7EA4CE" ma:contentTypeVersion="0" ma:contentTypeDescription="Opret et nyt dokument." ma:contentTypeScope="" ma:versionID="770393eef86d7b4bef4bb0f2e561853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504b555cbc0eb2a32092f08c35baad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51F44B-3034-4740-95C2-985891052F7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3C4D403-FD8F-406A-9EDF-320652EB29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6ED8E34-367B-40C1-A70A-5C846428003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4096</TotalTime>
  <Words>554</Words>
  <Application>Microsoft Macintosh PowerPoint</Application>
  <PresentationFormat>On-screen Show (4:3)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Lucida Sans</vt:lpstr>
      <vt:lpstr>Kontortema</vt:lpstr>
      <vt:lpstr>PowerPoint Presentation</vt:lpstr>
      <vt:lpstr>Kontekst</vt:lpstr>
      <vt:lpstr>Brugergrænsefladen</vt:lpstr>
      <vt:lpstr>Specielle Krav</vt:lpstr>
      <vt:lpstr>Tilpasse domæne</vt:lpstr>
      <vt:lpstr>Indeksering</vt:lpstr>
      <vt:lpstr>En begrebsmæssig datamodel for det omvendte indeks.</vt:lpstr>
      <vt:lpstr>En relationel datamodel for det omvendte indeks</vt:lpstr>
      <vt:lpstr>Walking Skeleton (version 1) Funktionalitet</vt:lpstr>
      <vt:lpstr>Walking Skeleton (version 1) Arkitektur – class diagram</vt:lpstr>
      <vt:lpstr>Walking Skeleton (version 1) Arkitektur - deployment</vt:lpstr>
      <vt:lpstr>Arkitektur – version 2</vt:lpstr>
      <vt:lpstr>Class diagram – version 2</vt:lpstr>
    </vt:vector>
  </TitlesOfParts>
  <Company>EFIF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Henrik Varmark (Marketingchef – eaaa.dk)</dc:creator>
  <cp:lastModifiedBy>Ole Eriksen (lektor – oler@eaaa.dk)</cp:lastModifiedBy>
  <cp:revision>154</cp:revision>
  <cp:lastPrinted>2014-02-11T13:26:00Z</cp:lastPrinted>
  <dcterms:created xsi:type="dcterms:W3CDTF">2014-02-11T09:21:34Z</dcterms:created>
  <dcterms:modified xsi:type="dcterms:W3CDTF">2026-02-03T09:26:24Z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0x01010097133A24E69C6E41AAC757A5EE7EA4CE</vt:lpwstr>
  </property>
</Properties>
</file>