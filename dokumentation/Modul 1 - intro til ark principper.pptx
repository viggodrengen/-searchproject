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87" r:id="rId6"/>
    <p:sldId id="288" r:id="rId7"/>
    <p:sldId id="291" r:id="rId8"/>
    <p:sldId id="289" r:id="rId9"/>
    <p:sldId id="290" r:id="rId10"/>
    <p:sldId id="292" r:id="rId11"/>
  </p:sldIdLst>
  <p:sldSz cx="9144000" cy="6858000" type="screen4x3"/>
  <p:notesSz cx="6794500" cy="99314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260"/>
    <a:srgbClr val="613C8D"/>
    <a:srgbClr val="73ADA0"/>
    <a:srgbClr val="58A99F"/>
    <a:srgbClr val="3EA089"/>
    <a:srgbClr val="9DBCB0"/>
    <a:srgbClr val="62B2C4"/>
    <a:srgbClr val="75B3C0"/>
    <a:srgbClr val="79B57F"/>
    <a:srgbClr val="B52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Mørkt layou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Mørkt layou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Mørkt layout 2 - Markering 5/Markering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6032" autoAdjust="0"/>
  </p:normalViewPr>
  <p:slideViewPr>
    <p:cSldViewPr>
      <p:cViewPr varScale="1">
        <p:scale>
          <a:sx n="103" d="100"/>
          <a:sy n="103" d="100"/>
        </p:scale>
        <p:origin x="189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3" d="100"/>
          <a:sy n="93" d="100"/>
        </p:scale>
        <p:origin x="3726" y="78"/>
      </p:cViewPr>
      <p:guideLst>
        <p:guide orient="horz" pos="3128"/>
        <p:guide pos="2140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1FD45-3EBC-104A-A3BD-DDE6C275840C}" type="datetime1">
              <a:rPr lang="da-DK" smtClean="0"/>
              <a:t>20.08.2025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4B31C-007A-410F-BB42-8A2D3B6872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403678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ED387-9CAD-B847-BECB-4F06A366B4DD}" type="datetime1">
              <a:rPr lang="da-DK" smtClean="0"/>
              <a:t>20.08.2025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EB5FE-4561-469F-AFBF-A10AA9A1D6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917462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Satoshi"/>
              </a:rPr>
              <a:t>with a best-of-suite approach you get a composable architecture that allows for ongoing extendibility and flexibility, whereas best-of-breed solutions often have a static architecture giving you a highly advanced solution that powers high performance, but with less flexibility (https://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Satoshi"/>
              </a:rPr>
              <a:t>dynamicweb.com</a:t>
            </a:r>
            <a:r>
              <a:rPr lang="en-GB" b="0" i="0" dirty="0">
                <a:solidFill>
                  <a:srgbClr val="333333"/>
                </a:solidFill>
                <a:effectLst/>
                <a:latin typeface="Satoshi"/>
              </a:rPr>
              <a:t>/resources/insights/blog/best-of-breed-vs-best-of-suite)</a:t>
            </a:r>
            <a:endParaRPr lang="da-DK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33ED387-9CAD-B847-BECB-4F06A366B4DD}" type="datetime1">
              <a:rPr lang="da-DK" smtClean="0"/>
              <a:t>20.08.2025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EEB5FE-4561-469F-AFBF-A10AA9A1D6C2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666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99019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614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-4832" y="5157192"/>
            <a:ext cx="9144000" cy="172819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3982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2B2C4">
              <a:alpha val="84706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70343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79B57F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86924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B52933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103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13C8D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1977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-4832" y="0"/>
            <a:ext cx="9144000" cy="6885384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14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72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1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7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  <a:p>
            <a:endParaRPr lang="da-DK" dirty="0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76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5" name="Lige forbindelse 14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6" name="Billed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47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4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13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18B965-6353-8D2D-EFD7-34CB8ACE2B53}"/>
              </a:ext>
            </a:extLst>
          </p:cNvPr>
          <p:cNvSpPr txBox="1"/>
          <p:nvPr userDrawn="1"/>
        </p:nvSpPr>
        <p:spPr>
          <a:xfrm>
            <a:off x="71400" y="6159918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5F330DE-7915-6542-B725-5CFD32D5EABF}" type="slidenum">
              <a:rPr lang="da-DK" smtClean="0">
                <a:solidFill>
                  <a:schemeClr val="bg1"/>
                </a:solidFill>
              </a:rPr>
              <a:t>‹#›</a:t>
            </a:fld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1509234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49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0816170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167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22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1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5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6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7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210D-F596-4EFF-8595-A055D708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16AC-EC15-40C9-8A72-57D50C67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E17B-3CA0-4729-8D78-22AF35D2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4379F-A27A-4064-9FBF-A0CBF580D62B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6032814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23FA-48BF-4749-9054-B5E067B2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379EA-D86E-4878-877E-1DB321D7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6E03E-4708-4B5B-BB67-BB2C9583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2202-5AD7-4CD5-A584-EBA56D7C82C7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17367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1061532" y="548616"/>
            <a:ext cx="7110948" cy="90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1061532" y="1808784"/>
            <a:ext cx="7110948" cy="4317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Line 49"/>
          <p:cNvSpPr>
            <a:spLocks noChangeShapeType="1"/>
          </p:cNvSpPr>
          <p:nvPr userDrawn="1"/>
        </p:nvSpPr>
        <p:spPr bwMode="auto">
          <a:xfrm>
            <a:off x="467544" y="6237312"/>
            <a:ext cx="3456384" cy="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62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3" r:id="rId3"/>
    <p:sldLayoutId id="2147483674" r:id="rId4"/>
    <p:sldLayoutId id="2147483675" r:id="rId5"/>
    <p:sldLayoutId id="2147483660" r:id="rId6"/>
    <p:sldLayoutId id="2147483676" r:id="rId7"/>
    <p:sldLayoutId id="2147483677" r:id="rId8"/>
    <p:sldLayoutId id="2147483678" r:id="rId9"/>
    <p:sldLayoutId id="2147483679" r:id="rId10"/>
    <p:sldLayoutId id="2147483667" r:id="rId11"/>
    <p:sldLayoutId id="2147483665" r:id="rId12"/>
    <p:sldLayoutId id="2147483670" r:id="rId13"/>
    <p:sldLayoutId id="2147483671" r:id="rId14"/>
    <p:sldLayoutId id="2147483650" r:id="rId15"/>
    <p:sldLayoutId id="2147483652" r:id="rId16"/>
    <p:sldLayoutId id="2147483680" r:id="rId17"/>
    <p:sldLayoutId id="2147483666" r:id="rId18"/>
    <p:sldLayoutId id="2147483681" r:id="rId19"/>
    <p:sldLayoutId id="2147483682" r:id="rId20"/>
    <p:sldLayoutId id="2147483664" r:id="rId21"/>
    <p:sldLayoutId id="2147483707" r:id="rId22"/>
    <p:sldLayoutId id="2147483708" r:id="rId23"/>
    <p:sldLayoutId id="2147483709" r:id="rId24"/>
    <p:sldLayoutId id="2147483710" r:id="rId25"/>
    <p:sldLayoutId id="2147483700" r:id="rId26"/>
    <p:sldLayoutId id="2147483711" r:id="rId27"/>
    <p:sldLayoutId id="2147483712" r:id="rId28"/>
    <p:sldLayoutId id="2147483713" r:id="rId29"/>
    <p:sldLayoutId id="2147483714" r:id="rId30"/>
    <p:sldLayoutId id="2147483663" r:id="rId31"/>
    <p:sldLayoutId id="2147483687" r:id="rId32"/>
    <p:sldLayoutId id="2147483688" r:id="rId33"/>
    <p:sldLayoutId id="2147483689" r:id="rId34"/>
    <p:sldLayoutId id="2147483690" r:id="rId35"/>
    <p:sldLayoutId id="2147483662" r:id="rId36"/>
    <p:sldLayoutId id="2147483696" r:id="rId37"/>
    <p:sldLayoutId id="2147483697" r:id="rId38"/>
    <p:sldLayoutId id="2147483698" r:id="rId39"/>
    <p:sldLayoutId id="2147483699" r:id="rId40"/>
    <p:sldLayoutId id="2147483715" r:id="rId41"/>
    <p:sldLayoutId id="2147483716" r:id="rId4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Lucida Sans" panose="020B06020305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1800" b="1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bg1">
              <a:lumMod val="50000"/>
            </a:schemeClr>
          </a:solidFill>
          <a:latin typeface="Lucida Sans" panose="020B0602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460" y="1448736"/>
            <a:ext cx="8101080" cy="3240432"/>
          </a:xfrm>
        </p:spPr>
        <p:txBody>
          <a:bodyPr>
            <a:noAutofit/>
          </a:bodyPr>
          <a:lstStyle/>
          <a:p>
            <a:r>
              <a:rPr lang="da-DK" sz="4800" dirty="0"/>
              <a:t>Arkitektur principper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53814-387F-0DB3-AAE1-A00DC4D73691}"/>
              </a:ext>
            </a:extLst>
          </p:cNvPr>
          <p:cNvSpPr txBox="1"/>
          <p:nvPr/>
        </p:nvSpPr>
        <p:spPr>
          <a:xfrm>
            <a:off x="701484" y="4509144"/>
            <a:ext cx="48271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Hvad er det og hvorfor har vi dem?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Overblik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Kriterier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>
                <a:solidFill>
                  <a:schemeClr val="bg1"/>
                </a:solidFill>
              </a:rPr>
              <a:t>Eksempel</a:t>
            </a:r>
          </a:p>
        </p:txBody>
      </p:sp>
    </p:spTree>
    <p:extLst>
      <p:ext uri="{BB962C8B-B14F-4D97-AF65-F5344CB8AC3E}">
        <p14:creationId xmlns:p14="http://schemas.microsoft.com/office/powerpoint/2010/main" val="17537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A4BF-484A-16A6-1236-5AE2BC6A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/>
              <a:t>Hvad er arkitektur principper og hvorfor have dem?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662FA-3C8A-A466-74BA-80C083CE4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1520" y="1718773"/>
            <a:ext cx="7290972" cy="396052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Best-practice og guidelines for arkitekter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Det kan være svar på hvordan man vil håndtere specielle krav eller omstændigheder i et projekt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Principperne er nemme at forstå og kan være dyre at følge – eller ikke følge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Tænk på dem som en checkliste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De kan skabe stor værdi under udviklingen og i produktet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dirty="0"/>
              <a:t>AKF principperne er kun eksempler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1372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4444F8-7206-58F4-E8B9-C04B8A896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02" y="0"/>
            <a:ext cx="7470996" cy="58136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B7B001-7CB3-5824-2EB4-4360110C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2" y="124476"/>
            <a:ext cx="7200960" cy="900120"/>
          </a:xfrm>
        </p:spPr>
        <p:txBody>
          <a:bodyPr/>
          <a:lstStyle/>
          <a:p>
            <a:r>
              <a:rPr lang="da-DK" dirty="0"/>
              <a:t>Overblik</a:t>
            </a:r>
          </a:p>
        </p:txBody>
      </p:sp>
    </p:spTree>
    <p:extLst>
      <p:ext uri="{BB962C8B-B14F-4D97-AF65-F5344CB8AC3E}">
        <p14:creationId xmlns:p14="http://schemas.microsoft.com/office/powerpoint/2010/main" val="338286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4F3E-4A96-609D-618D-E0843ACE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Vigtige arkitektur principper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C0421-01AC-C63E-16A9-745E7E1953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Scale</a:t>
            </a:r>
            <a:r>
              <a:rPr lang="da-DK" dirty="0"/>
              <a:t> out – not up!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Stateless</a:t>
            </a:r>
            <a:r>
              <a:rPr lang="da-DK" dirty="0"/>
              <a:t>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asynchronous</a:t>
            </a:r>
            <a:r>
              <a:rPr lang="da-DK" dirty="0"/>
              <a:t>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Design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monitored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Design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disabled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2824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8F1F-C525-B634-C8DB-1AD165A9E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da-DK" dirty="0"/>
              <a:t>Hvordan defineres nye arkitektur principper?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3E5F-E699-FE77-9500-1A27413868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Man kan bruge ”smart” kriteriet: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pecific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easurable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chievable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ealistic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T</a:t>
            </a:r>
            <a:r>
              <a:rPr lang="en-US" sz="2400" dirty="0"/>
              <a:t>estable</a:t>
            </a:r>
          </a:p>
          <a:p>
            <a:r>
              <a:rPr lang="da-DK" dirty="0"/>
              <a:t>Derudover skal modsætningen give mening…</a:t>
            </a:r>
          </a:p>
        </p:txBody>
      </p:sp>
    </p:spTree>
    <p:extLst>
      <p:ext uri="{BB962C8B-B14F-4D97-AF65-F5344CB8AC3E}">
        <p14:creationId xmlns:p14="http://schemas.microsoft.com/office/powerpoint/2010/main" val="191804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A925-3A46-C621-873C-36419F67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728" y="0"/>
            <a:ext cx="2340312" cy="900120"/>
          </a:xfrm>
        </p:spPr>
        <p:txBody>
          <a:bodyPr/>
          <a:lstStyle/>
          <a:p>
            <a:r>
              <a:rPr lang="da-DK" dirty="0"/>
              <a:t>Eksempel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E0F8-ED53-E1C8-523D-155EBE198A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4" name="Content Placeholder 7" descr="Graphical user interface&#10;&#10;Description automatically generated">
            <a:extLst>
              <a:ext uri="{FF2B5EF4-FFF2-40B4-BE49-F238E27FC236}">
                <a16:creationId xmlns:a16="http://schemas.microsoft.com/office/drawing/2014/main" id="{487E52AD-6CDC-DE6F-34B9-8C077E00C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024" y="548616"/>
            <a:ext cx="9432648" cy="630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6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5E6B-6F04-798A-C6AC-0066CC4C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Husk…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ED51-219C-9BDB-19E2-14B5DD2F25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AFK principperne kan bruges som en checkliste i starten af et projekt</a:t>
            </a:r>
          </a:p>
          <a:p>
            <a:endParaRPr lang="da-DK" dirty="0"/>
          </a:p>
          <a:p>
            <a:r>
              <a:rPr lang="da-DK" dirty="0"/>
              <a:t>Nogle principper er vigtige for udviklere, nogle er vigtige for operation/drift og nogle er vigtige for begge.</a:t>
            </a:r>
          </a:p>
          <a:p>
            <a:endParaRPr lang="da-DK" dirty="0"/>
          </a:p>
          <a:p>
            <a:r>
              <a:rPr lang="da-DK" dirty="0"/>
              <a:t>Arkitekten vælger arkitektur principper fra eller til i et givet projekt.</a:t>
            </a:r>
          </a:p>
          <a:p>
            <a:endParaRPr lang="da-DK" dirty="0"/>
          </a:p>
          <a:p>
            <a:r>
              <a:rPr lang="da-DK" dirty="0"/>
              <a:t>I kan selv definere jeres egne principper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92207717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Brugerdefineret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2060"/>
      </a:hlink>
      <a:folHlink>
        <a:srgbClr val="00206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133A24E69C6E41AAC757A5EE7EA4CE" ma:contentTypeVersion="0" ma:contentTypeDescription="Opret et nyt dokument." ma:contentTypeScope="" ma:versionID="770393eef86d7b4bef4bb0f2e561853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504b555cbc0eb2a32092f08c35baa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ED8E34-367B-40C1-A70A-5C84642800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C4D403-FD8F-406A-9EDF-320652EB29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F51F44B-3034-4740-95C2-985891052F7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3952</TotalTime>
  <Words>239</Words>
  <Application>Microsoft Macintosh PowerPoint</Application>
  <PresentationFormat>On-screen Show (4:3)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Lucida Sans</vt:lpstr>
      <vt:lpstr>Satoshi</vt:lpstr>
      <vt:lpstr>Kontortema</vt:lpstr>
      <vt:lpstr>PowerPoint Presentation</vt:lpstr>
      <vt:lpstr>Hvad er arkitektur principper og hvorfor have dem?</vt:lpstr>
      <vt:lpstr>Overblik</vt:lpstr>
      <vt:lpstr>Vigtige arkitektur principper</vt:lpstr>
      <vt:lpstr>Hvordan defineres nye arkitektur principper?</vt:lpstr>
      <vt:lpstr>Eksempel</vt:lpstr>
      <vt:lpstr>Husk…</vt:lpstr>
    </vt:vector>
  </TitlesOfParts>
  <Company>EFIF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Varmark (Marketingchef – eaaa.dk)</dc:creator>
  <cp:lastModifiedBy>Ole Eriksen (lektor – oler@eaaa.dk)</cp:lastModifiedBy>
  <cp:revision>155</cp:revision>
  <cp:lastPrinted>2014-02-11T13:26:00Z</cp:lastPrinted>
  <dcterms:created xsi:type="dcterms:W3CDTF">2014-02-11T09:21:34Z</dcterms:created>
  <dcterms:modified xsi:type="dcterms:W3CDTF">2025-08-20T09:23:23Z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0x01010097133A24E69C6E41AAC757A5EE7EA4CE</vt:lpwstr>
  </property>
</Properties>
</file>